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8" d="100"/>
          <a:sy n="208" d="100"/>
        </p:scale>
        <p:origin x="1280" y="2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543" y="70076"/>
            <a:ext cx="3387090" cy="265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5540" y="734441"/>
            <a:ext cx="1891664" cy="215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27601" y="3209363"/>
            <a:ext cx="132079" cy="151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8650" y="-34634"/>
            <a:ext cx="131127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75" dirty="0">
                <a:solidFill>
                  <a:srgbClr val="22373A"/>
                </a:solidFill>
              </a:rPr>
              <a:t>IssueOps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1007821" y="416087"/>
            <a:ext cx="26193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22373A"/>
                </a:solidFill>
                <a:latin typeface="Trebuchet MS"/>
                <a:cs typeface="Trebuchet MS"/>
              </a:rPr>
              <a:t>Continuous</a:t>
            </a:r>
            <a:r>
              <a:rPr sz="1400" i="1" spc="-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22373A"/>
                </a:solidFill>
                <a:latin typeface="Trebuchet MS"/>
                <a:cs typeface="Trebuchet MS"/>
              </a:rPr>
              <a:t>AI</a:t>
            </a:r>
            <a:r>
              <a:rPr sz="1400" i="1" spc="-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22373A"/>
                </a:solidFill>
                <a:latin typeface="Trebuchet MS"/>
                <a:cs typeface="Trebuchet MS"/>
              </a:rPr>
              <a:t>for</a:t>
            </a:r>
            <a:r>
              <a:rPr sz="1400" i="1" spc="-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22373A"/>
                </a:solidFill>
                <a:latin typeface="Trebuchet MS"/>
                <a:cs typeface="Trebuchet MS"/>
              </a:rPr>
              <a:t>GitHub</a:t>
            </a:r>
            <a:r>
              <a:rPr sz="1400" i="1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22373A"/>
                </a:solidFill>
                <a:latin typeface="Trebuchet MS"/>
                <a:cs typeface="Trebuchet MS"/>
              </a:rPr>
              <a:t>Issues.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7553" y="775418"/>
            <a:ext cx="3919220" cy="982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sz="1000" i="1" spc="-90" dirty="0">
                <a:solidFill>
                  <a:srgbClr val="22373A"/>
                </a:solidFill>
                <a:latin typeface="Trebuchet MS"/>
                <a:cs typeface="Trebuchet MS"/>
              </a:rPr>
              <a:t>“We</a:t>
            </a:r>
            <a:r>
              <a:rPr sz="1000" i="1" spc="-1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already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burn</a:t>
            </a:r>
            <a:r>
              <a:rPr sz="1000" i="1" spc="-1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countless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unpaid</a:t>
            </a:r>
            <a:r>
              <a:rPr sz="1000" i="1" spc="-1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hours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triaging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issues</a:t>
            </a:r>
            <a:r>
              <a:rPr sz="1000" i="1" spc="-1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rebuchet MS"/>
                <a:cs typeface="Trebuchet MS"/>
              </a:rPr>
              <a:t>and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 dealing </a:t>
            </a:r>
            <a:r>
              <a:rPr sz="1000" i="1" spc="-50" dirty="0">
                <a:solidFill>
                  <a:srgbClr val="22373A"/>
                </a:solidFill>
                <a:latin typeface="Trebuchet MS"/>
                <a:cs typeface="Trebuchet MS"/>
              </a:rPr>
              <a:t>with</a:t>
            </a:r>
            <a:r>
              <a:rPr sz="1000" i="1" spc="-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duplicates</a:t>
            </a:r>
            <a:r>
              <a:rPr sz="1000" i="1" spc="-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instead</a:t>
            </a:r>
            <a:r>
              <a:rPr sz="1000" i="1" spc="-30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22373A"/>
                </a:solidFill>
                <a:latin typeface="Trebuchet MS"/>
                <a:cs typeface="Trebuchet MS"/>
              </a:rPr>
              <a:t>of</a:t>
            </a:r>
            <a:r>
              <a:rPr sz="1000" i="1" spc="-30" dirty="0">
                <a:solidFill>
                  <a:srgbClr val="22373A"/>
                </a:solidFill>
                <a:latin typeface="Trebuchet MS"/>
                <a:cs typeface="Trebuchet MS"/>
              </a:rPr>
              <a:t> writing </a:t>
            </a:r>
            <a:r>
              <a:rPr sz="1000" i="1" spc="-10" dirty="0">
                <a:solidFill>
                  <a:srgbClr val="22373A"/>
                </a:solidFill>
                <a:latin typeface="Trebuchet MS"/>
                <a:cs typeface="Trebuchet MS"/>
              </a:rPr>
              <a:t>code.”</a:t>
            </a:r>
            <a:endParaRPr sz="1000">
              <a:latin typeface="Trebuchet MS"/>
              <a:cs typeface="Trebuchet MS"/>
            </a:endParaRPr>
          </a:p>
          <a:p>
            <a:pPr marL="5080" algn="ctr">
              <a:lnSpc>
                <a:spcPct val="100000"/>
              </a:lnSpc>
              <a:spcBef>
                <a:spcPts val="770"/>
              </a:spcBef>
            </a:pPr>
            <a:r>
              <a:rPr sz="800" spc="-110" dirty="0">
                <a:solidFill>
                  <a:srgbClr val="22373A"/>
                </a:solidFill>
                <a:latin typeface="Tahoma"/>
                <a:cs typeface="Tahoma"/>
              </a:rPr>
              <a:t>—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Mike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McQuaid,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Lead</a:t>
            </a:r>
            <a:r>
              <a:rPr sz="8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Maintainer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Homebrew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800">
              <a:latin typeface="Tahoma"/>
              <a:cs typeface="Tahoma"/>
            </a:endParaRPr>
          </a:p>
          <a:p>
            <a:pPr marL="9525" algn="ctr">
              <a:lnSpc>
                <a:spcPct val="100000"/>
              </a:lnSpc>
            </a:pPr>
            <a:r>
              <a:rPr sz="12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Team:</a:t>
            </a:r>
            <a:r>
              <a:rPr sz="12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Tahoma"/>
                <a:cs typeface="Tahoma"/>
              </a:rPr>
              <a:t>VaaS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996" y="1804690"/>
            <a:ext cx="1008003" cy="10080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62557" y="3021430"/>
            <a:ext cx="1883410" cy="37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800" spc="-30" dirty="0">
                <a:solidFill>
                  <a:srgbClr val="333333"/>
                </a:solidFill>
                <a:latin typeface="Tahoma"/>
                <a:cs typeface="Tahoma"/>
              </a:rPr>
              <a:t>DS</a:t>
            </a:r>
            <a:r>
              <a:rPr sz="800" spc="-1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800" spc="-70" dirty="0">
                <a:solidFill>
                  <a:srgbClr val="333333"/>
                </a:solidFill>
                <a:latin typeface="Tahoma"/>
                <a:cs typeface="Tahoma"/>
              </a:rPr>
              <a:t>252</a:t>
            </a:r>
            <a:r>
              <a:rPr sz="800" spc="-1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800" spc="-130" dirty="0">
                <a:solidFill>
                  <a:srgbClr val="333333"/>
                </a:solidFill>
                <a:latin typeface="Tahoma"/>
                <a:cs typeface="Tahoma"/>
              </a:rPr>
              <a:t>:</a:t>
            </a:r>
            <a:r>
              <a:rPr sz="800" spc="7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333333"/>
                </a:solidFill>
                <a:latin typeface="Tahoma"/>
                <a:cs typeface="Tahoma"/>
              </a:rPr>
              <a:t>Introduction</a:t>
            </a:r>
            <a:r>
              <a:rPr sz="800" spc="-1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333333"/>
                </a:solidFill>
                <a:latin typeface="Tahoma"/>
                <a:cs typeface="Tahoma"/>
              </a:rPr>
              <a:t>to</a:t>
            </a:r>
            <a:r>
              <a:rPr sz="800" spc="-10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333333"/>
                </a:solidFill>
                <a:latin typeface="Tahoma"/>
                <a:cs typeface="Tahoma"/>
              </a:rPr>
              <a:t>Cloud</a:t>
            </a:r>
            <a:r>
              <a:rPr sz="800" spc="-15" dirty="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333333"/>
                </a:solidFill>
                <a:latin typeface="Tahoma"/>
                <a:cs typeface="Tahoma"/>
              </a:rPr>
              <a:t>Computing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September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95" dirty="0">
                <a:solidFill>
                  <a:srgbClr val="22373A"/>
                </a:solidFill>
                <a:latin typeface="Tahoma"/>
                <a:cs typeface="Tahoma"/>
              </a:rPr>
              <a:t>13,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2025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72745"/>
          </a:xfrm>
          <a:custGeom>
            <a:avLst/>
            <a:gdLst/>
            <a:ahLst/>
            <a:cxnLst/>
            <a:rect l="l" t="t" r="r" b="b"/>
            <a:pathLst>
              <a:path w="4608195" h="372745">
                <a:moveTo>
                  <a:pt x="4608004" y="0"/>
                </a:moveTo>
                <a:lnTo>
                  <a:pt x="0" y="0"/>
                </a:lnTo>
                <a:lnTo>
                  <a:pt x="0" y="372719"/>
                </a:lnTo>
                <a:lnTo>
                  <a:pt x="4608004" y="372719"/>
                </a:lnTo>
                <a:lnTo>
                  <a:pt x="4608004" y="0"/>
                </a:lnTo>
                <a:close/>
              </a:path>
            </a:pathLst>
          </a:custGeom>
          <a:solidFill>
            <a:srgbClr val="0077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96" y="54277"/>
            <a:ext cx="1061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Problem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2764"/>
            <a:ext cx="4608195" cy="5080"/>
            <a:chOff x="0" y="372764"/>
            <a:chExt cx="4608195" cy="5080"/>
          </a:xfrm>
        </p:grpSpPr>
        <p:sp>
          <p:nvSpPr>
            <p:cNvPr id="5" name="object 5"/>
            <p:cNvSpPr/>
            <p:nvPr/>
          </p:nvSpPr>
          <p:spPr>
            <a:xfrm>
              <a:off x="0" y="37529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276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60" y="0"/>
                  </a:lnTo>
                  <a:lnTo>
                    <a:pt x="46080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72764"/>
              <a:ext cx="922019" cy="5080"/>
            </a:xfrm>
            <a:custGeom>
              <a:avLst/>
              <a:gdLst/>
              <a:ahLst/>
              <a:cxnLst/>
              <a:rect l="l" t="t" r="r" b="b"/>
              <a:pathLst>
                <a:path w="922019" h="5079">
                  <a:moveTo>
                    <a:pt x="0" y="5060"/>
                  </a:moveTo>
                  <a:lnTo>
                    <a:pt x="0" y="0"/>
                  </a:lnTo>
                  <a:lnTo>
                    <a:pt x="921597" y="0"/>
                  </a:lnTo>
                  <a:lnTo>
                    <a:pt x="9215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830" y="710076"/>
            <a:ext cx="3718560" cy="6140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71475" marR="5080" indent="-359410">
              <a:lnSpc>
                <a:spcPts val="2150"/>
              </a:lnSpc>
              <a:spcBef>
                <a:spcPts val="445"/>
              </a:spcBef>
            </a:pPr>
            <a:r>
              <a:rPr sz="2050" spc="-65" dirty="0">
                <a:solidFill>
                  <a:srgbClr val="22373A"/>
                </a:solidFill>
              </a:rPr>
              <a:t>Developer</a:t>
            </a:r>
            <a:r>
              <a:rPr sz="2050" spc="-85" dirty="0">
                <a:solidFill>
                  <a:srgbClr val="22373A"/>
                </a:solidFill>
              </a:rPr>
              <a:t> </a:t>
            </a:r>
            <a:r>
              <a:rPr sz="2050" spc="-60" dirty="0">
                <a:solidFill>
                  <a:srgbClr val="22373A"/>
                </a:solidFill>
              </a:rPr>
              <a:t>productivity</a:t>
            </a:r>
            <a:r>
              <a:rPr sz="2050" spc="-80" dirty="0">
                <a:solidFill>
                  <a:srgbClr val="22373A"/>
                </a:solidFill>
              </a:rPr>
              <a:t> </a:t>
            </a:r>
            <a:r>
              <a:rPr sz="2050" spc="-60" dirty="0">
                <a:solidFill>
                  <a:srgbClr val="22373A"/>
                </a:solidFill>
              </a:rPr>
              <a:t>is</a:t>
            </a:r>
            <a:r>
              <a:rPr sz="2050" spc="-80" dirty="0">
                <a:solidFill>
                  <a:srgbClr val="22373A"/>
                </a:solidFill>
              </a:rPr>
              <a:t> </a:t>
            </a:r>
            <a:r>
              <a:rPr sz="2050" spc="-60" dirty="0">
                <a:solidFill>
                  <a:srgbClr val="22373A"/>
                </a:solidFill>
              </a:rPr>
              <a:t>being </a:t>
            </a:r>
            <a:r>
              <a:rPr sz="2050" spc="-65" dirty="0">
                <a:solidFill>
                  <a:srgbClr val="22373A"/>
                </a:solidFill>
              </a:rPr>
              <a:t>drained</a:t>
            </a:r>
            <a:r>
              <a:rPr sz="2050" spc="-60" dirty="0">
                <a:solidFill>
                  <a:srgbClr val="22373A"/>
                </a:solidFill>
              </a:rPr>
              <a:t> </a:t>
            </a:r>
            <a:r>
              <a:rPr sz="2050" spc="-85" dirty="0">
                <a:solidFill>
                  <a:srgbClr val="22373A"/>
                </a:solidFill>
              </a:rPr>
              <a:t>by</a:t>
            </a:r>
            <a:r>
              <a:rPr sz="2050" spc="-65" dirty="0">
                <a:solidFill>
                  <a:srgbClr val="22373A"/>
                </a:solidFill>
              </a:rPr>
              <a:t> </a:t>
            </a:r>
            <a:r>
              <a:rPr sz="2050" spc="-100" dirty="0">
                <a:solidFill>
                  <a:srgbClr val="22373A"/>
                </a:solidFill>
              </a:rPr>
              <a:t>GitHub</a:t>
            </a:r>
            <a:r>
              <a:rPr sz="2050" spc="-60" dirty="0">
                <a:solidFill>
                  <a:srgbClr val="22373A"/>
                </a:solidFill>
              </a:rPr>
              <a:t> </a:t>
            </a:r>
            <a:r>
              <a:rPr sz="2050" spc="-10" dirty="0">
                <a:solidFill>
                  <a:srgbClr val="22373A"/>
                </a:solidFill>
              </a:rPr>
              <a:t>Issues.</a:t>
            </a:r>
            <a:endParaRPr sz="2050"/>
          </a:p>
        </p:txBody>
      </p:sp>
      <p:sp>
        <p:nvSpPr>
          <p:cNvPr id="9" name="object 9"/>
          <p:cNvSpPr txBox="1"/>
          <p:nvPr/>
        </p:nvSpPr>
        <p:spPr>
          <a:xfrm>
            <a:off x="1169695" y="1462044"/>
            <a:ext cx="226949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75" dirty="0">
                <a:solidFill>
                  <a:srgbClr val="22373A"/>
                </a:solidFill>
                <a:latin typeface="Lucida Sans Unicode"/>
                <a:cs typeface="Lucida Sans Unicode"/>
              </a:rPr>
              <a:t>7.3</a:t>
            </a:r>
            <a:r>
              <a:rPr sz="17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hours</a:t>
            </a:r>
            <a:r>
              <a:rPr sz="17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lost</a:t>
            </a:r>
            <a:r>
              <a:rPr sz="17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per</a:t>
            </a:r>
            <a:r>
              <a:rPr sz="17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week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838" y="1703456"/>
            <a:ext cx="29749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per</a:t>
            </a:r>
            <a:r>
              <a:rPr sz="10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developer</a:t>
            </a:r>
            <a:r>
              <a:rPr sz="10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10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triage,</a:t>
            </a:r>
            <a:r>
              <a:rPr sz="10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duplicates,</a:t>
            </a:r>
            <a:r>
              <a:rPr sz="10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10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notifications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9600" y="1991050"/>
            <a:ext cx="13493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365" dirty="0">
                <a:solidFill>
                  <a:srgbClr val="22373A"/>
                </a:solidFill>
                <a:latin typeface="Lucida Sans Unicode"/>
                <a:cs typeface="Lucida Sans Unicode"/>
              </a:rPr>
              <a:t>3+</a:t>
            </a:r>
            <a:r>
              <a:rPr sz="17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day</a:t>
            </a:r>
            <a:r>
              <a:rPr sz="17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delays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6802" y="2232449"/>
            <a:ext cx="25349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before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issues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even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categorized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routed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4167" y="2526609"/>
            <a:ext cx="192023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59%</a:t>
            </a:r>
            <a:r>
              <a:rPr sz="17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of</a:t>
            </a:r>
            <a:r>
              <a:rPr sz="17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maintainers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2723" y="2768020"/>
            <a:ext cx="2682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consider</a:t>
            </a:r>
            <a:r>
              <a:rPr sz="10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quitting</a:t>
            </a:r>
            <a:r>
              <a:rPr sz="10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due</a:t>
            </a:r>
            <a:r>
              <a:rPr sz="10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10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burnout</a:t>
            </a:r>
            <a:r>
              <a:rPr sz="10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10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overhead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Market</a:t>
            </a:r>
            <a:r>
              <a:rPr spc="-60" dirty="0"/>
              <a:t> </a:t>
            </a:r>
            <a:r>
              <a:rPr spc="-30" dirty="0"/>
              <a:t>Research</a:t>
            </a:r>
            <a:r>
              <a:rPr spc="-55" dirty="0"/>
              <a:t> </a:t>
            </a:r>
            <a:r>
              <a:rPr spc="65" dirty="0"/>
              <a:t>&amp;</a:t>
            </a:r>
            <a:r>
              <a:rPr spc="-55" dirty="0"/>
              <a:t> </a:t>
            </a:r>
            <a:r>
              <a:rPr spc="-30" dirty="0"/>
              <a:t>Strategic</a:t>
            </a:r>
            <a:r>
              <a:rPr spc="-60" dirty="0"/>
              <a:t> </a:t>
            </a:r>
            <a:r>
              <a:rPr spc="-25" dirty="0"/>
              <a:t>Opportunity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23621" y="575066"/>
            <a:ext cx="2265045" cy="1301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5" dirty="0">
                <a:solidFill>
                  <a:srgbClr val="3497DB"/>
                </a:solidFill>
                <a:latin typeface="Lucida Sans Unicode"/>
                <a:cs typeface="Lucida Sans Unicode"/>
              </a:rPr>
              <a:t>Market</a:t>
            </a:r>
            <a:r>
              <a:rPr sz="1200" spc="-40" dirty="0">
                <a:solidFill>
                  <a:srgbClr val="3497DB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3497DB"/>
                </a:solidFill>
                <a:latin typeface="Lucida Sans Unicode"/>
                <a:cs typeface="Lucida Sans Unicode"/>
              </a:rPr>
              <a:t>Opportunity</a:t>
            </a:r>
            <a:endParaRPr sz="1200">
              <a:latin typeface="Lucida Sans Unicode"/>
              <a:cs typeface="Lucida Sans Unicode"/>
            </a:endParaRPr>
          </a:p>
          <a:p>
            <a:pPr marL="262255" indent="-96520">
              <a:lnSpc>
                <a:spcPct val="100000"/>
              </a:lnSpc>
              <a:spcBef>
                <a:spcPts val="715"/>
              </a:spcBef>
              <a:buClr>
                <a:srgbClr val="0077CC"/>
              </a:buClr>
              <a:buFont typeface="Tahoma"/>
              <a:buChar char="•"/>
              <a:tabLst>
                <a:tab pos="262255" algn="l"/>
              </a:tabLst>
            </a:pPr>
            <a:r>
              <a:rPr sz="1000" spc="-165" dirty="0">
                <a:solidFill>
                  <a:srgbClr val="22373A"/>
                </a:solidFill>
                <a:latin typeface="Lucida Sans Unicode"/>
                <a:cs typeface="Lucida Sans Unicode"/>
              </a:rPr>
              <a:t>150M+</a:t>
            </a:r>
            <a:r>
              <a:rPr sz="10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developers</a:t>
            </a:r>
            <a:r>
              <a:rPr sz="10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sz="10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GitHub</a:t>
            </a:r>
            <a:endParaRPr sz="1000">
              <a:latin typeface="Tahoma"/>
              <a:cs typeface="Tahoma"/>
            </a:endParaRPr>
          </a:p>
          <a:p>
            <a:pPr marL="261620" indent="-95885">
              <a:lnSpc>
                <a:spcPct val="100000"/>
              </a:lnSpc>
              <a:spcBef>
                <a:spcPts val="475"/>
              </a:spcBef>
              <a:buClr>
                <a:srgbClr val="0077CC"/>
              </a:buClr>
              <a:buFont typeface="Tahoma"/>
              <a:buChar char="•"/>
              <a:tabLst>
                <a:tab pos="261620" algn="l"/>
              </a:tabLst>
            </a:pPr>
            <a:r>
              <a:rPr sz="1000" spc="-155" dirty="0">
                <a:solidFill>
                  <a:srgbClr val="22373A"/>
                </a:solidFill>
                <a:latin typeface="Lucida Sans Unicode"/>
                <a:cs typeface="Lucida Sans Unicode"/>
              </a:rPr>
              <a:t>420M+</a:t>
            </a:r>
            <a:r>
              <a:rPr sz="1000" spc="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repositories</a:t>
            </a:r>
            <a:r>
              <a:rPr sz="10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hosted</a:t>
            </a:r>
            <a:endParaRPr sz="1000">
              <a:latin typeface="Tahoma"/>
              <a:cs typeface="Tahoma"/>
            </a:endParaRPr>
          </a:p>
          <a:p>
            <a:pPr marL="264795" indent="-99060">
              <a:lnSpc>
                <a:spcPct val="100000"/>
              </a:lnSpc>
              <a:spcBef>
                <a:spcPts val="475"/>
              </a:spcBef>
              <a:buClr>
                <a:srgbClr val="0077CC"/>
              </a:buClr>
              <a:buFont typeface="Tahoma"/>
              <a:buChar char="•"/>
              <a:tabLst>
                <a:tab pos="264795" algn="l"/>
              </a:tabLst>
            </a:pPr>
            <a:r>
              <a:rPr sz="1000" spc="-130" dirty="0">
                <a:solidFill>
                  <a:srgbClr val="22373A"/>
                </a:solidFill>
                <a:latin typeface="Lucida Sans Unicode"/>
                <a:cs typeface="Lucida Sans Unicode"/>
              </a:rPr>
              <a:t>$37.45B</a:t>
            </a:r>
            <a:r>
              <a:rPr sz="1000" spc="-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automation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market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2030</a:t>
            </a:r>
            <a:endParaRPr sz="1000">
              <a:latin typeface="Tahoma"/>
              <a:cs typeface="Tahoma"/>
            </a:endParaRPr>
          </a:p>
          <a:p>
            <a:pPr marL="264795" indent="-99060">
              <a:lnSpc>
                <a:spcPct val="100000"/>
              </a:lnSpc>
              <a:spcBef>
                <a:spcPts val="470"/>
              </a:spcBef>
              <a:buClr>
                <a:srgbClr val="0077CC"/>
              </a:buClr>
              <a:buFont typeface="Tahoma"/>
              <a:buChar char="•"/>
              <a:tabLst>
                <a:tab pos="264795" algn="l"/>
              </a:tabLst>
            </a:pPr>
            <a:r>
              <a:rPr sz="1000" spc="-140" dirty="0">
                <a:solidFill>
                  <a:srgbClr val="22373A"/>
                </a:solidFill>
                <a:latin typeface="Lucida Sans Unicode"/>
                <a:cs typeface="Lucida Sans Unicode"/>
              </a:rPr>
              <a:t>$21.6M</a:t>
            </a:r>
            <a:r>
              <a:rPr sz="1000" spc="-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Tahoma"/>
                <a:cs typeface="Tahoma"/>
              </a:rPr>
              <a:t>TAM</a:t>
            </a:r>
            <a:r>
              <a:rPr sz="10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(GitHub-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specific)</a:t>
            </a:r>
            <a:endParaRPr sz="1000">
              <a:latin typeface="Tahoma"/>
              <a:cs typeface="Tahoma"/>
            </a:endParaRPr>
          </a:p>
          <a:p>
            <a:pPr marL="264795" indent="-99060">
              <a:lnSpc>
                <a:spcPct val="100000"/>
              </a:lnSpc>
              <a:spcBef>
                <a:spcPts val="475"/>
              </a:spcBef>
              <a:buClr>
                <a:srgbClr val="0077CC"/>
              </a:buClr>
              <a:buFont typeface="Tahoma"/>
              <a:buChar char="•"/>
              <a:tabLst>
                <a:tab pos="264795" algn="l"/>
              </a:tabLst>
            </a:pPr>
            <a:r>
              <a:rPr sz="1000" spc="-85" dirty="0">
                <a:solidFill>
                  <a:srgbClr val="22373A"/>
                </a:solidFill>
                <a:latin typeface="Lucida Sans Unicode"/>
                <a:cs typeface="Lucida Sans Unicode"/>
              </a:rPr>
              <a:t>9.52%</a:t>
            </a:r>
            <a:r>
              <a:rPr sz="10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Tahoma"/>
                <a:cs typeface="Tahoma"/>
              </a:rPr>
              <a:t>CAGR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growth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rate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2755" y="575066"/>
            <a:ext cx="1885314" cy="143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06425" algn="ctr">
              <a:lnSpc>
                <a:spcPct val="100000"/>
              </a:lnSpc>
              <a:spcBef>
                <a:spcPts val="95"/>
              </a:spcBef>
            </a:pPr>
            <a:r>
              <a:rPr sz="1200" spc="-45" dirty="0">
                <a:solidFill>
                  <a:srgbClr val="AD81C6"/>
                </a:solidFill>
                <a:latin typeface="Lucida Sans Unicode"/>
                <a:cs typeface="Lucida Sans Unicode"/>
              </a:rPr>
              <a:t>Revenue</a:t>
            </a:r>
            <a:r>
              <a:rPr sz="1200" spc="-40" dirty="0">
                <a:solidFill>
                  <a:srgbClr val="AD81C6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AD81C6"/>
                </a:solidFill>
                <a:latin typeface="Lucida Sans Unicode"/>
                <a:cs typeface="Lucida Sans Unicode"/>
              </a:rPr>
              <a:t>Potential</a:t>
            </a:r>
            <a:endParaRPr sz="1200">
              <a:latin typeface="Lucida Sans Unicode"/>
              <a:cs typeface="Lucida Sans Unicode"/>
            </a:endParaRPr>
          </a:p>
          <a:p>
            <a:pPr marL="261620" indent="-95885">
              <a:lnSpc>
                <a:spcPct val="100000"/>
              </a:lnSpc>
              <a:spcBef>
                <a:spcPts val="715"/>
              </a:spcBef>
              <a:buClr>
                <a:srgbClr val="0077CC"/>
              </a:buClr>
              <a:buChar char="•"/>
              <a:tabLst>
                <a:tab pos="261620" algn="l"/>
              </a:tabLst>
            </a:pPr>
            <a:r>
              <a:rPr sz="1000" spc="-45" dirty="0">
                <a:solidFill>
                  <a:srgbClr val="22373A"/>
                </a:solidFill>
                <a:latin typeface="Tahoma"/>
                <a:cs typeface="Tahoma"/>
              </a:rPr>
              <a:t>Team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Subscriptions:</a:t>
            </a:r>
            <a:endParaRPr sz="1000">
              <a:latin typeface="Tahoma"/>
              <a:cs typeface="Tahoma"/>
            </a:endParaRPr>
          </a:p>
          <a:p>
            <a:pPr marR="658495" algn="ctr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$14.4M/year</a:t>
            </a:r>
            <a:endParaRPr sz="1000">
              <a:latin typeface="Lucida Sans Unicode"/>
              <a:cs typeface="Lucida Sans Unicode"/>
            </a:endParaRPr>
          </a:p>
          <a:p>
            <a:pPr marL="264795" indent="-99060">
              <a:lnSpc>
                <a:spcPct val="100000"/>
              </a:lnSpc>
              <a:spcBef>
                <a:spcPts val="475"/>
              </a:spcBef>
              <a:buClr>
                <a:srgbClr val="0077CC"/>
              </a:buClr>
              <a:buChar char="•"/>
              <a:tabLst>
                <a:tab pos="264795" algn="l"/>
              </a:tabLst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Individual</a:t>
            </a:r>
            <a:r>
              <a:rPr sz="10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Freemium:</a:t>
            </a:r>
            <a:endParaRPr sz="1000">
              <a:latin typeface="Tahoma"/>
              <a:cs typeface="Tahoma"/>
            </a:endParaRPr>
          </a:p>
          <a:p>
            <a:pPr marL="26543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$6.0M/year</a:t>
            </a:r>
            <a:endParaRPr sz="1000">
              <a:latin typeface="Lucida Sans Unicode"/>
              <a:cs typeface="Lucida Sans Unicode"/>
            </a:endParaRPr>
          </a:p>
          <a:p>
            <a:pPr marL="264795" indent="-99060">
              <a:lnSpc>
                <a:spcPct val="100000"/>
              </a:lnSpc>
              <a:spcBef>
                <a:spcPts val="475"/>
              </a:spcBef>
              <a:buClr>
                <a:srgbClr val="0077CC"/>
              </a:buClr>
              <a:buChar char="•"/>
              <a:tabLst>
                <a:tab pos="264795" algn="l"/>
              </a:tabLst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Enterprise</a:t>
            </a:r>
            <a:r>
              <a:rPr sz="1000" spc="-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Plans:</a:t>
            </a:r>
            <a:r>
              <a:rPr sz="10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$1.2M/year</a:t>
            </a:r>
            <a:endParaRPr sz="1000">
              <a:latin typeface="Lucida Sans Unicode"/>
              <a:cs typeface="Lucida Sans Unicode"/>
            </a:endParaRPr>
          </a:p>
          <a:p>
            <a:pPr marL="261620" indent="-95885">
              <a:lnSpc>
                <a:spcPct val="100000"/>
              </a:lnSpc>
              <a:spcBef>
                <a:spcPts val="470"/>
              </a:spcBef>
              <a:buClr>
                <a:srgbClr val="0077CC"/>
              </a:buClr>
              <a:buFont typeface="Tahoma"/>
              <a:buChar char="•"/>
              <a:tabLst>
                <a:tab pos="261620" algn="l"/>
              </a:tabLst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Total</a:t>
            </a:r>
            <a:r>
              <a:rPr sz="10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20" dirty="0">
                <a:solidFill>
                  <a:srgbClr val="22373A"/>
                </a:solidFill>
                <a:latin typeface="Lucida Sans Unicode"/>
                <a:cs typeface="Lucida Sans Unicode"/>
              </a:rPr>
              <a:t>TAM:</a:t>
            </a:r>
            <a:r>
              <a:rPr sz="1000" spc="-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Tahoma"/>
                <a:cs typeface="Tahoma"/>
              </a:rPr>
              <a:t>$21.6M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annually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188" y="2014445"/>
            <a:ext cx="1804035" cy="108204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55" dirty="0">
                <a:latin typeface="Lucida Sans Unicode"/>
                <a:cs typeface="Lucida Sans Unicode"/>
              </a:rPr>
              <a:t>Competitive</a:t>
            </a:r>
            <a:r>
              <a:rPr sz="120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Gaps</a:t>
            </a:r>
            <a:endParaRPr sz="1200">
              <a:latin typeface="Lucida Sans Unicode"/>
              <a:cs typeface="Lucida Sans Unicode"/>
            </a:endParaRPr>
          </a:p>
          <a:p>
            <a:pPr marL="264795" indent="-99060">
              <a:lnSpc>
                <a:spcPct val="100000"/>
              </a:lnSpc>
              <a:spcBef>
                <a:spcPts val="434"/>
              </a:spcBef>
              <a:buClr>
                <a:srgbClr val="0077CC"/>
              </a:buClr>
              <a:buChar char="•"/>
              <a:tabLst>
                <a:tab pos="264795" algn="l"/>
              </a:tabLst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GitHub</a:t>
            </a:r>
            <a:r>
              <a:rPr sz="10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Projects:</a:t>
            </a:r>
            <a:r>
              <a:rPr sz="10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Limited</a:t>
            </a:r>
            <a:r>
              <a:rPr sz="10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Tahoma"/>
                <a:cs typeface="Tahoma"/>
              </a:rPr>
              <a:t>AI</a:t>
            </a:r>
            <a:endParaRPr sz="1000">
              <a:latin typeface="Tahoma"/>
              <a:cs typeface="Tahoma"/>
            </a:endParaRPr>
          </a:p>
          <a:p>
            <a:pPr marL="265430" marR="425450" indent="-99695">
              <a:lnSpc>
                <a:spcPct val="114599"/>
              </a:lnSpc>
              <a:spcBef>
                <a:spcPts val="295"/>
              </a:spcBef>
              <a:buClr>
                <a:srgbClr val="0077CC"/>
              </a:buClr>
              <a:buChar char="•"/>
              <a:tabLst>
                <a:tab pos="265430" algn="l"/>
              </a:tabLst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Linear:</a:t>
            </a:r>
            <a:r>
              <a:rPr sz="10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Poor</a:t>
            </a:r>
            <a:r>
              <a:rPr sz="1000" spc="-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GitHub integration</a:t>
            </a:r>
            <a:endParaRPr sz="1000">
              <a:latin typeface="Tahoma"/>
              <a:cs typeface="Tahoma"/>
            </a:endParaRPr>
          </a:p>
          <a:p>
            <a:pPr marL="261620" indent="-95885">
              <a:lnSpc>
                <a:spcPct val="100000"/>
              </a:lnSpc>
              <a:spcBef>
                <a:spcPts val="475"/>
              </a:spcBef>
              <a:buClr>
                <a:srgbClr val="0077CC"/>
              </a:buClr>
              <a:buChar char="•"/>
              <a:tabLst>
                <a:tab pos="261620" algn="l"/>
              </a:tabLst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Actions:</a:t>
            </a:r>
            <a:r>
              <a:rPr sz="10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Requires</a:t>
            </a:r>
            <a:r>
              <a:rPr sz="1000" spc="-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expertise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Our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500773" y="725303"/>
            <a:ext cx="3653790" cy="244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marR="57785" indent="-99695">
              <a:lnSpc>
                <a:spcPct val="114599"/>
              </a:lnSpc>
              <a:spcBef>
                <a:spcPts val="100"/>
              </a:spcBef>
              <a:buClr>
                <a:srgbClr val="0077CC"/>
              </a:buClr>
              <a:buFont typeface="Tahoma"/>
              <a:buChar char="•"/>
              <a:tabLst>
                <a:tab pos="111760" algn="l"/>
              </a:tabLst>
            </a:pP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IssueOps:</a:t>
            </a:r>
            <a:r>
              <a:rPr sz="10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An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 AI-powered</a:t>
            </a:r>
            <a:r>
              <a:rPr sz="10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platform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that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automates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10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GitHub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issue</a:t>
            </a:r>
            <a:r>
              <a:rPr sz="10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lifecycle</a:t>
            </a:r>
            <a:r>
              <a:rPr sz="10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using</a:t>
            </a:r>
            <a:r>
              <a:rPr sz="10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10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following</a:t>
            </a:r>
            <a:r>
              <a:rPr sz="10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agent</a:t>
            </a:r>
            <a:r>
              <a:rPr sz="10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pipeline:</a:t>
            </a:r>
            <a:endParaRPr sz="1000">
              <a:latin typeface="Tahoma"/>
              <a:cs typeface="Tahoma"/>
            </a:endParaRPr>
          </a:p>
          <a:p>
            <a:pPr marL="342900">
              <a:lnSpc>
                <a:spcPct val="100000"/>
              </a:lnSpc>
              <a:spcBef>
                <a:spcPts val="225"/>
              </a:spcBef>
            </a:pPr>
            <a:r>
              <a:rPr sz="1000" i="1" spc="-10" dirty="0">
                <a:solidFill>
                  <a:srgbClr val="22373A"/>
                </a:solidFill>
                <a:latin typeface="Courier New"/>
                <a:cs typeface="Courier New"/>
              </a:rPr>
              <a:t>Intake</a:t>
            </a:r>
            <a:r>
              <a:rPr sz="1000" i="1" spc="-3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imes New Roman"/>
                <a:cs typeface="Times New Roman"/>
              </a:rPr>
              <a:t>→</a:t>
            </a:r>
            <a:r>
              <a:rPr sz="1000" i="1" spc="3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000" i="1" spc="-10" dirty="0">
                <a:solidFill>
                  <a:srgbClr val="22373A"/>
                </a:solidFill>
                <a:latin typeface="Courier New"/>
                <a:cs typeface="Courier New"/>
              </a:rPr>
              <a:t>Triage</a:t>
            </a:r>
            <a:r>
              <a:rPr sz="1000" i="1" spc="-3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imes New Roman"/>
                <a:cs typeface="Times New Roman"/>
              </a:rPr>
              <a:t>→</a:t>
            </a:r>
            <a:r>
              <a:rPr sz="1000" i="1" spc="3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000" i="1" spc="-10" dirty="0">
                <a:solidFill>
                  <a:srgbClr val="22373A"/>
                </a:solidFill>
                <a:latin typeface="Courier New"/>
                <a:cs typeface="Courier New"/>
              </a:rPr>
              <a:t>Assignment</a:t>
            </a:r>
            <a:r>
              <a:rPr sz="1000" i="1" spc="-3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22373A"/>
                </a:solidFill>
                <a:latin typeface="Times New Roman"/>
                <a:cs typeface="Times New Roman"/>
              </a:rPr>
              <a:t>→</a:t>
            </a:r>
            <a:r>
              <a:rPr sz="1000" i="1" spc="35" dirty="0">
                <a:solidFill>
                  <a:srgbClr val="22373A"/>
                </a:solidFill>
                <a:latin typeface="Times New Roman"/>
                <a:cs typeface="Times New Roman"/>
              </a:rPr>
              <a:t> </a:t>
            </a:r>
            <a:r>
              <a:rPr sz="1000" i="1" spc="-10" dirty="0">
                <a:solidFill>
                  <a:srgbClr val="22373A"/>
                </a:solidFill>
                <a:latin typeface="Courier New"/>
                <a:cs typeface="Courier New"/>
              </a:rPr>
              <a:t>Notification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0">
              <a:latin typeface="Courier New"/>
              <a:cs typeface="Courier New"/>
            </a:endParaRPr>
          </a:p>
          <a:p>
            <a:pPr marL="111760" indent="-99060">
              <a:lnSpc>
                <a:spcPct val="100000"/>
              </a:lnSpc>
              <a:buClr>
                <a:srgbClr val="0077CC"/>
              </a:buClr>
              <a:buFont typeface="Tahoma"/>
              <a:buChar char="•"/>
              <a:tabLst>
                <a:tab pos="111760" algn="l"/>
              </a:tabLst>
            </a:pPr>
            <a:r>
              <a:rPr sz="10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Our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Lucida Sans Unicode"/>
                <a:cs typeface="Lucida Sans Unicode"/>
              </a:rPr>
              <a:t>Core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Ideas:</a:t>
            </a:r>
            <a:endParaRPr sz="1000">
              <a:latin typeface="Lucida Sans Unicode"/>
              <a:cs typeface="Lucida Sans Unicode"/>
            </a:endParaRPr>
          </a:p>
          <a:p>
            <a:pPr marL="365125" marR="5080" lvl="1" indent="-153670">
              <a:lnSpc>
                <a:spcPts val="1260"/>
              </a:lnSpc>
              <a:spcBef>
                <a:spcPts val="50"/>
              </a:spcBef>
              <a:buClr>
                <a:srgbClr val="0077CC"/>
              </a:buClr>
              <a:buChar char="—"/>
              <a:tabLst>
                <a:tab pos="365125" algn="l"/>
              </a:tabLst>
            </a:pPr>
            <a:r>
              <a:rPr sz="9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Connected</a:t>
            </a:r>
            <a:r>
              <a:rPr sz="9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Workflow:</a:t>
            </a:r>
            <a:r>
              <a:rPr sz="900" spc="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Keeps</a:t>
            </a:r>
            <a:r>
              <a:rPr sz="9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track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each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issue</a:t>
            </a:r>
            <a:r>
              <a:rPr sz="9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as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moves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from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one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agent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next.</a:t>
            </a:r>
            <a:endParaRPr sz="900">
              <a:latin typeface="Tahoma"/>
              <a:cs typeface="Tahoma"/>
            </a:endParaRPr>
          </a:p>
          <a:p>
            <a:pPr marL="365125" marR="91440" lvl="1" indent="-153670">
              <a:lnSpc>
                <a:spcPts val="1260"/>
              </a:lnSpc>
              <a:buClr>
                <a:srgbClr val="0077CC"/>
              </a:buClr>
              <a:buChar char="—"/>
              <a:tabLst>
                <a:tab pos="365125" algn="l"/>
              </a:tabLst>
            </a:pPr>
            <a:r>
              <a:rPr sz="9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Smart </a:t>
            </a:r>
            <a:r>
              <a:rPr sz="9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Triage:</a:t>
            </a:r>
            <a:r>
              <a:rPr sz="9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Mixes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power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large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Tahoma"/>
                <a:cs typeface="Tahoma"/>
              </a:rPr>
              <a:t>AI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models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our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own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simple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rules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better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decisions.</a:t>
            </a:r>
            <a:endParaRPr sz="900">
              <a:latin typeface="Tahoma"/>
              <a:cs typeface="Tahoma"/>
            </a:endParaRPr>
          </a:p>
          <a:p>
            <a:pPr marL="365125" marR="323215" lvl="1" indent="-153670">
              <a:lnSpc>
                <a:spcPts val="1260"/>
              </a:lnSpc>
              <a:spcBef>
                <a:spcPts val="5"/>
              </a:spcBef>
              <a:buClr>
                <a:srgbClr val="0077CC"/>
              </a:buClr>
              <a:buChar char="—"/>
              <a:tabLst>
                <a:tab pos="365125" algn="l"/>
              </a:tabLst>
            </a:pPr>
            <a:r>
              <a:rPr sz="9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Elastic Scaling:</a:t>
            </a:r>
            <a:r>
              <a:rPr sz="900" spc="7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Built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with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Docker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Kubernetes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sz="9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can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automatically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handle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any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number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of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incoming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issues.</a:t>
            </a:r>
            <a:endParaRPr sz="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0077CC"/>
              </a:buClr>
              <a:buFont typeface="Lucida Sans Unicode"/>
              <a:buChar char="—"/>
            </a:pPr>
            <a:endParaRPr sz="900">
              <a:latin typeface="Tahoma"/>
              <a:cs typeface="Tahoma"/>
            </a:endParaRPr>
          </a:p>
          <a:p>
            <a:pPr marL="111760" indent="-99060">
              <a:lnSpc>
                <a:spcPct val="100000"/>
              </a:lnSpc>
              <a:buClr>
                <a:srgbClr val="0077CC"/>
              </a:buClr>
              <a:buFont typeface="Tahoma"/>
              <a:buChar char="•"/>
              <a:tabLst>
                <a:tab pos="111760" algn="l"/>
              </a:tabLst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Key</a:t>
            </a:r>
            <a:r>
              <a:rPr sz="10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Value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Proposition:</a:t>
            </a:r>
            <a:endParaRPr sz="1000">
              <a:latin typeface="Lucida Sans Unicode"/>
              <a:cs typeface="Lucida Sans Unicode"/>
            </a:endParaRPr>
          </a:p>
          <a:p>
            <a:pPr marL="366395" indent="-97155">
              <a:lnSpc>
                <a:spcPct val="100000"/>
              </a:lnSpc>
              <a:spcBef>
                <a:spcPts val="160"/>
              </a:spcBef>
              <a:buClr>
                <a:srgbClr val="0077CC"/>
              </a:buClr>
              <a:buChar char="•"/>
              <a:tabLst>
                <a:tab pos="366395" algn="l"/>
              </a:tabLst>
            </a:pP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Cut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issue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triage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time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from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Tahoma"/>
                <a:cs typeface="Tahoma"/>
              </a:rPr>
              <a:t>2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days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under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4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hours.</a:t>
            </a:r>
            <a:endParaRPr sz="900">
              <a:latin typeface="Tahoma"/>
              <a:cs typeface="Tahoma"/>
            </a:endParaRPr>
          </a:p>
          <a:p>
            <a:pPr marL="366395" indent="-97155">
              <a:lnSpc>
                <a:spcPct val="100000"/>
              </a:lnSpc>
              <a:spcBef>
                <a:spcPts val="180"/>
              </a:spcBef>
              <a:buClr>
                <a:srgbClr val="0077CC"/>
              </a:buClr>
              <a:buChar char="•"/>
              <a:tabLst>
                <a:tab pos="366395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Reduce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developer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notification</a:t>
            </a:r>
            <a:r>
              <a:rPr sz="9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noise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by</a:t>
            </a:r>
            <a:r>
              <a:rPr sz="9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more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than</a:t>
            </a:r>
            <a:r>
              <a:rPr sz="9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60%.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543" y="70076"/>
            <a:ext cx="1057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Intake</a:t>
            </a:r>
            <a:r>
              <a:rPr spc="-65" dirty="0"/>
              <a:t> </a:t>
            </a:r>
            <a:r>
              <a:rPr spc="-50" dirty="0"/>
              <a:t>Agent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17332" y="577592"/>
            <a:ext cx="1387475" cy="292735"/>
            <a:chOff x="617332" y="577592"/>
            <a:chExt cx="1387475" cy="292735"/>
          </a:xfrm>
        </p:grpSpPr>
        <p:sp>
          <p:nvSpPr>
            <p:cNvPr id="5" name="object 5"/>
            <p:cNvSpPr/>
            <p:nvPr/>
          </p:nvSpPr>
          <p:spPr>
            <a:xfrm>
              <a:off x="619555" y="579814"/>
              <a:ext cx="1383030" cy="288290"/>
            </a:xfrm>
            <a:custGeom>
              <a:avLst/>
              <a:gdLst/>
              <a:ahLst/>
              <a:cxnLst/>
              <a:rect l="l" t="t" r="r" b="b"/>
              <a:pathLst>
                <a:path w="1383030" h="288290">
                  <a:moveTo>
                    <a:pt x="1321685" y="0"/>
                  </a:moveTo>
                  <a:lnTo>
                    <a:pt x="60733" y="0"/>
                  </a:lnTo>
                  <a:lnTo>
                    <a:pt x="37092" y="4772"/>
                  </a:lnTo>
                  <a:lnTo>
                    <a:pt x="17788" y="17788"/>
                  </a:lnTo>
                  <a:lnTo>
                    <a:pt x="4772" y="37092"/>
                  </a:lnTo>
                  <a:lnTo>
                    <a:pt x="0" y="60733"/>
                  </a:lnTo>
                  <a:lnTo>
                    <a:pt x="0" y="227270"/>
                  </a:lnTo>
                  <a:lnTo>
                    <a:pt x="4772" y="250910"/>
                  </a:lnTo>
                  <a:lnTo>
                    <a:pt x="17788" y="270215"/>
                  </a:lnTo>
                  <a:lnTo>
                    <a:pt x="37092" y="283230"/>
                  </a:lnTo>
                  <a:lnTo>
                    <a:pt x="60733" y="288003"/>
                  </a:lnTo>
                  <a:lnTo>
                    <a:pt x="1321685" y="288003"/>
                  </a:lnTo>
                  <a:lnTo>
                    <a:pt x="1345325" y="283230"/>
                  </a:lnTo>
                  <a:lnTo>
                    <a:pt x="1364630" y="270215"/>
                  </a:lnTo>
                  <a:lnTo>
                    <a:pt x="1377645" y="250910"/>
                  </a:lnTo>
                  <a:lnTo>
                    <a:pt x="1382418" y="227270"/>
                  </a:lnTo>
                  <a:lnTo>
                    <a:pt x="1382418" y="60733"/>
                  </a:lnTo>
                  <a:lnTo>
                    <a:pt x="1377645" y="37092"/>
                  </a:lnTo>
                  <a:lnTo>
                    <a:pt x="1364630" y="17788"/>
                  </a:lnTo>
                  <a:lnTo>
                    <a:pt x="1345325" y="4772"/>
                  </a:lnTo>
                  <a:lnTo>
                    <a:pt x="1321685" y="0"/>
                  </a:lnTo>
                  <a:close/>
                </a:path>
              </a:pathLst>
            </a:custGeom>
            <a:solidFill>
              <a:srgbClr val="268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555" y="579814"/>
              <a:ext cx="1383030" cy="288290"/>
            </a:xfrm>
            <a:custGeom>
              <a:avLst/>
              <a:gdLst/>
              <a:ahLst/>
              <a:cxnLst/>
              <a:rect l="l" t="t" r="r" b="b"/>
              <a:pathLst>
                <a:path w="1383030" h="288290">
                  <a:moveTo>
                    <a:pt x="1321685" y="0"/>
                  </a:moveTo>
                  <a:lnTo>
                    <a:pt x="60733" y="0"/>
                  </a:lnTo>
                  <a:lnTo>
                    <a:pt x="37092" y="4772"/>
                  </a:lnTo>
                  <a:lnTo>
                    <a:pt x="17788" y="17788"/>
                  </a:lnTo>
                  <a:lnTo>
                    <a:pt x="4772" y="37092"/>
                  </a:lnTo>
                  <a:lnTo>
                    <a:pt x="0" y="60733"/>
                  </a:lnTo>
                  <a:lnTo>
                    <a:pt x="0" y="227270"/>
                  </a:lnTo>
                  <a:lnTo>
                    <a:pt x="4772" y="250910"/>
                  </a:lnTo>
                  <a:lnTo>
                    <a:pt x="17788" y="270215"/>
                  </a:lnTo>
                  <a:lnTo>
                    <a:pt x="37092" y="283230"/>
                  </a:lnTo>
                  <a:lnTo>
                    <a:pt x="60733" y="288003"/>
                  </a:lnTo>
                  <a:lnTo>
                    <a:pt x="1321685" y="288003"/>
                  </a:lnTo>
                  <a:lnTo>
                    <a:pt x="1345325" y="283230"/>
                  </a:lnTo>
                  <a:lnTo>
                    <a:pt x="1364630" y="270215"/>
                  </a:lnTo>
                  <a:lnTo>
                    <a:pt x="1377645" y="250910"/>
                  </a:lnTo>
                  <a:lnTo>
                    <a:pt x="1382418" y="227270"/>
                  </a:lnTo>
                  <a:lnTo>
                    <a:pt x="1382418" y="60733"/>
                  </a:lnTo>
                  <a:lnTo>
                    <a:pt x="1377645" y="37092"/>
                  </a:lnTo>
                  <a:lnTo>
                    <a:pt x="1364630" y="17788"/>
                  </a:lnTo>
                  <a:lnTo>
                    <a:pt x="1345325" y="4772"/>
                  </a:lnTo>
                  <a:lnTo>
                    <a:pt x="1321685" y="0"/>
                  </a:lnTo>
                  <a:close/>
                </a:path>
              </a:pathLst>
            </a:custGeom>
            <a:ln w="4048">
              <a:solidFill>
                <a:srgbClr val="005F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11400" y="637074"/>
            <a:ext cx="598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Intake</a:t>
            </a:r>
            <a:r>
              <a:rPr sz="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Agent</a:t>
            </a:r>
            <a:endParaRPr sz="8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0533" y="1071246"/>
            <a:ext cx="1300480" cy="264160"/>
            <a:chOff x="660533" y="1071246"/>
            <a:chExt cx="1300480" cy="264160"/>
          </a:xfrm>
        </p:grpSpPr>
        <p:sp>
          <p:nvSpPr>
            <p:cNvPr id="9" name="object 9"/>
            <p:cNvSpPr/>
            <p:nvPr/>
          </p:nvSpPr>
          <p:spPr>
            <a:xfrm>
              <a:off x="662756" y="1073469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5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solidFill>
              <a:srgbClr val="93CE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756" y="1073469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5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ln w="4048">
              <a:solidFill>
                <a:srgbClr val="3C8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77709" y="1124227"/>
            <a:ext cx="66611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Spam</a:t>
            </a:r>
            <a:r>
              <a:rPr sz="7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Detection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0533" y="1478498"/>
            <a:ext cx="1300480" cy="264160"/>
            <a:chOff x="660533" y="1478498"/>
            <a:chExt cx="1300480" cy="264160"/>
          </a:xfrm>
        </p:grpSpPr>
        <p:sp>
          <p:nvSpPr>
            <p:cNvPr id="13" name="object 13"/>
            <p:cNvSpPr/>
            <p:nvPr/>
          </p:nvSpPr>
          <p:spPr>
            <a:xfrm>
              <a:off x="662756" y="1480721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solidFill>
              <a:srgbClr val="FFC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2756" y="1480721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ln w="4048">
              <a:solidFill>
                <a:srgbClr val="CC7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99690" y="1531481"/>
            <a:ext cx="822325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Duplicate</a:t>
            </a:r>
            <a:r>
              <a:rPr sz="7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Detection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0533" y="1885750"/>
            <a:ext cx="1300480" cy="264160"/>
            <a:chOff x="660533" y="1885750"/>
            <a:chExt cx="1300480" cy="264160"/>
          </a:xfrm>
        </p:grpSpPr>
        <p:sp>
          <p:nvSpPr>
            <p:cNvPr id="17" name="object 17"/>
            <p:cNvSpPr/>
            <p:nvPr/>
          </p:nvSpPr>
          <p:spPr>
            <a:xfrm>
              <a:off x="662756" y="1887973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solidFill>
              <a:srgbClr val="C37D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2756" y="1887973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ln w="4048">
              <a:solidFill>
                <a:srgbClr val="7C1F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7430" y="1947573"/>
            <a:ext cx="1026794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Stale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Issue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Identification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0533" y="2293002"/>
            <a:ext cx="1300480" cy="264160"/>
            <a:chOff x="660533" y="2293002"/>
            <a:chExt cx="1300480" cy="264160"/>
          </a:xfrm>
        </p:grpSpPr>
        <p:sp>
          <p:nvSpPr>
            <p:cNvPr id="21" name="object 21"/>
            <p:cNvSpPr/>
            <p:nvPr/>
          </p:nvSpPr>
          <p:spPr>
            <a:xfrm>
              <a:off x="662756" y="2295225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solidFill>
              <a:srgbClr val="F88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2756" y="2295225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ln w="4048">
              <a:solidFill>
                <a:srgbClr val="C335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06045" y="2345988"/>
            <a:ext cx="6096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40" dirty="0">
                <a:solidFill>
                  <a:srgbClr val="22373A"/>
                </a:solidFill>
                <a:latin typeface="Tahoma"/>
                <a:cs typeface="Tahoma"/>
              </a:rPr>
              <a:t>TODO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Tracking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60533" y="2700254"/>
            <a:ext cx="1300480" cy="264160"/>
            <a:chOff x="660533" y="2700254"/>
            <a:chExt cx="1300480" cy="264160"/>
          </a:xfrm>
        </p:grpSpPr>
        <p:sp>
          <p:nvSpPr>
            <p:cNvPr id="25" name="object 25"/>
            <p:cNvSpPr/>
            <p:nvPr/>
          </p:nvSpPr>
          <p:spPr>
            <a:xfrm>
              <a:off x="662756" y="2702477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solidFill>
              <a:srgbClr val="66D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2756" y="2702477"/>
              <a:ext cx="1296035" cy="259715"/>
            </a:xfrm>
            <a:custGeom>
              <a:avLst/>
              <a:gdLst/>
              <a:ahLst/>
              <a:cxnLst/>
              <a:rect l="l" t="t" r="r" b="b"/>
              <a:pathLst>
                <a:path w="1296035" h="259714">
                  <a:moveTo>
                    <a:pt x="124540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08590"/>
                  </a:lnTo>
                  <a:lnTo>
                    <a:pt x="3977" y="228290"/>
                  </a:lnTo>
                  <a:lnTo>
                    <a:pt x="14823" y="244378"/>
                  </a:lnTo>
                  <a:lnTo>
                    <a:pt x="30910" y="255224"/>
                  </a:lnTo>
                  <a:lnTo>
                    <a:pt x="50610" y="259201"/>
                  </a:lnTo>
                  <a:lnTo>
                    <a:pt x="1245405" y="259201"/>
                  </a:lnTo>
                  <a:lnTo>
                    <a:pt x="1265105" y="255224"/>
                  </a:lnTo>
                  <a:lnTo>
                    <a:pt x="1281192" y="244378"/>
                  </a:lnTo>
                  <a:lnTo>
                    <a:pt x="1292039" y="228290"/>
                  </a:lnTo>
                  <a:lnTo>
                    <a:pt x="1296016" y="208590"/>
                  </a:lnTo>
                  <a:lnTo>
                    <a:pt x="1296016" y="50610"/>
                  </a:lnTo>
                  <a:lnTo>
                    <a:pt x="1292039" y="30910"/>
                  </a:lnTo>
                  <a:lnTo>
                    <a:pt x="1281192" y="14823"/>
                  </a:lnTo>
                  <a:lnTo>
                    <a:pt x="1265105" y="3977"/>
                  </a:lnTo>
                  <a:lnTo>
                    <a:pt x="1245405" y="0"/>
                  </a:lnTo>
                  <a:close/>
                </a:path>
              </a:pathLst>
            </a:custGeom>
            <a:ln w="4048">
              <a:solidFill>
                <a:srgbClr val="0096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08037" y="2753241"/>
            <a:ext cx="100584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Reproduction</a:t>
            </a:r>
            <a:r>
              <a:rPr sz="7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Validation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83410" y="869842"/>
            <a:ext cx="55244" cy="1823720"/>
            <a:chOff x="1283410" y="869842"/>
            <a:chExt cx="55244" cy="1823720"/>
          </a:xfrm>
        </p:grpSpPr>
        <p:sp>
          <p:nvSpPr>
            <p:cNvPr id="29" name="object 29"/>
            <p:cNvSpPr/>
            <p:nvPr/>
          </p:nvSpPr>
          <p:spPr>
            <a:xfrm>
              <a:off x="1310764" y="869842"/>
              <a:ext cx="0" cy="146685"/>
            </a:xfrm>
            <a:custGeom>
              <a:avLst/>
              <a:gdLst/>
              <a:ahLst/>
              <a:cxnLst/>
              <a:rect l="l" t="t" r="r" b="b"/>
              <a:pathLst>
                <a:path h="146684">
                  <a:moveTo>
                    <a:pt x="0" y="0"/>
                  </a:moveTo>
                  <a:lnTo>
                    <a:pt x="0" y="146614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87458" y="998118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46611" y="0"/>
                  </a:move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lnTo>
                    <a:pt x="46611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87458" y="998118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23305" y="61794"/>
                  </a:moveTo>
                  <a:lnTo>
                    <a:pt x="46611" y="0"/>
                  </a:ln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close/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10764" y="1334695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h="89534">
                  <a:moveTo>
                    <a:pt x="0" y="0"/>
                  </a:moveTo>
                  <a:lnTo>
                    <a:pt x="0" y="89014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87458" y="1405371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46611" y="0"/>
                  </a:move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lnTo>
                    <a:pt x="46611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87458" y="1405371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23305" y="61794"/>
                  </a:moveTo>
                  <a:lnTo>
                    <a:pt x="46611" y="0"/>
                  </a:ln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close/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10764" y="1741947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h="89535">
                  <a:moveTo>
                    <a:pt x="0" y="0"/>
                  </a:moveTo>
                  <a:lnTo>
                    <a:pt x="0" y="89014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87458" y="1812622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46611" y="0"/>
                  </a:move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lnTo>
                    <a:pt x="46611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87458" y="1812622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23305" y="61794"/>
                  </a:moveTo>
                  <a:lnTo>
                    <a:pt x="46611" y="0"/>
                  </a:ln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close/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10764" y="2149199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h="89535">
                  <a:moveTo>
                    <a:pt x="0" y="0"/>
                  </a:moveTo>
                  <a:lnTo>
                    <a:pt x="0" y="89013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87458" y="2219875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46611" y="0"/>
                  </a:move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lnTo>
                    <a:pt x="46611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87458" y="2219875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23305" y="61794"/>
                  </a:moveTo>
                  <a:lnTo>
                    <a:pt x="46611" y="0"/>
                  </a:ln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close/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10764" y="2556451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h="89535">
                  <a:moveTo>
                    <a:pt x="0" y="0"/>
                  </a:moveTo>
                  <a:lnTo>
                    <a:pt x="0" y="89014"/>
                  </a:lnTo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87458" y="2627126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46611" y="0"/>
                  </a:move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lnTo>
                    <a:pt x="46611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87458" y="2627126"/>
              <a:ext cx="46990" cy="62230"/>
            </a:xfrm>
            <a:custGeom>
              <a:avLst/>
              <a:gdLst/>
              <a:ahLst/>
              <a:cxnLst/>
              <a:rect l="l" t="t" r="r" b="b"/>
              <a:pathLst>
                <a:path w="46990" h="62230">
                  <a:moveTo>
                    <a:pt x="23305" y="61794"/>
                  </a:moveTo>
                  <a:lnTo>
                    <a:pt x="46611" y="0"/>
                  </a:lnTo>
                  <a:lnTo>
                    <a:pt x="23305" y="20362"/>
                  </a:lnTo>
                  <a:lnTo>
                    <a:pt x="0" y="0"/>
                  </a:lnTo>
                  <a:lnTo>
                    <a:pt x="23305" y="61794"/>
                  </a:lnTo>
                  <a:close/>
                </a:path>
              </a:pathLst>
            </a:custGeom>
            <a:ln w="8097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366860" y="580031"/>
            <a:ext cx="1877060" cy="257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9525" indent="-2540">
              <a:lnSpc>
                <a:spcPct val="109100"/>
              </a:lnSpc>
              <a:spcBef>
                <a:spcPts val="100"/>
              </a:spcBef>
            </a:pP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Intake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Agent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is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first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gatekeeper.</a:t>
            </a:r>
            <a:r>
              <a:rPr sz="7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 cleans,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organizes,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enriches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every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incoming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issue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only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actionable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work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reaches developers.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00">
              <a:latin typeface="Tahoma"/>
              <a:cs typeface="Tahoma"/>
            </a:endParaRPr>
          </a:p>
          <a:p>
            <a:pPr marL="14604">
              <a:lnSpc>
                <a:spcPct val="100000"/>
              </a:lnSpc>
            </a:pPr>
            <a:r>
              <a:rPr sz="7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Key</a:t>
            </a:r>
            <a:r>
              <a:rPr sz="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functions</a:t>
            </a:r>
            <a:endParaRPr sz="700">
              <a:latin typeface="Lucida Sans Unicode"/>
              <a:cs typeface="Lucida Sans Unicode"/>
            </a:endParaRPr>
          </a:p>
          <a:p>
            <a:pPr marL="267970" marR="149225" indent="-118745">
              <a:lnSpc>
                <a:spcPct val="109100"/>
              </a:lnSpc>
              <a:spcBef>
                <a:spcPts val="600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Spam</a:t>
            </a:r>
            <a:r>
              <a:rPr sz="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Shield:</a:t>
            </a:r>
            <a:r>
              <a:rPr sz="7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Blocks</a:t>
            </a:r>
            <a:r>
              <a:rPr sz="7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bots,</a:t>
            </a:r>
            <a:r>
              <a:rPr sz="7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junk,</a:t>
            </a:r>
            <a:r>
              <a:rPr sz="7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 irrelevant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noise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before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it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clutters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 repo.</a:t>
            </a:r>
            <a:endParaRPr sz="700">
              <a:latin typeface="Tahoma"/>
              <a:cs typeface="Tahoma"/>
            </a:endParaRPr>
          </a:p>
          <a:p>
            <a:pPr marL="267335" marR="40005" indent="-124460">
              <a:lnSpc>
                <a:spcPct val="109100"/>
              </a:lnSpc>
              <a:spcBef>
                <a:spcPts val="300"/>
              </a:spcBef>
              <a:buClr>
                <a:srgbClr val="0077CC"/>
              </a:buClr>
              <a:buFont typeface="Tahoma"/>
              <a:buAutoNum type="arabicPeriod"/>
              <a:tabLst>
                <a:tab pos="267335" algn="l"/>
              </a:tabLst>
            </a:pP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Duplicate</a:t>
            </a: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Finder:</a:t>
            </a:r>
            <a:r>
              <a:rPr sz="700" spc="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Detects</a:t>
            </a:r>
            <a:r>
              <a:rPr sz="7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similar</a:t>
            </a:r>
            <a:r>
              <a:rPr sz="7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issues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links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them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into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one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clear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thread.</a:t>
            </a:r>
            <a:endParaRPr sz="700">
              <a:latin typeface="Tahoma"/>
              <a:cs typeface="Tahoma"/>
            </a:endParaRPr>
          </a:p>
          <a:p>
            <a:pPr marL="267335" marR="52705" indent="-125095">
              <a:lnSpc>
                <a:spcPct val="109100"/>
              </a:lnSpc>
              <a:spcBef>
                <a:spcPts val="300"/>
              </a:spcBef>
              <a:buClr>
                <a:srgbClr val="0077CC"/>
              </a:buClr>
              <a:buFont typeface="Tahoma"/>
              <a:buAutoNum type="arabicPeriod"/>
              <a:tabLst>
                <a:tab pos="267335" algn="l"/>
              </a:tabLst>
            </a:pP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Stale</a:t>
            </a:r>
            <a:r>
              <a:rPr sz="7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Detector:</a:t>
            </a:r>
            <a:r>
              <a:rPr sz="7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Flags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outdated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 abandoned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issues,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keeping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backlog lean.</a:t>
            </a:r>
            <a:endParaRPr sz="700">
              <a:latin typeface="Tahoma"/>
              <a:cs typeface="Tahoma"/>
            </a:endParaRPr>
          </a:p>
          <a:p>
            <a:pPr marL="266065" marR="5080" indent="-126364">
              <a:lnSpc>
                <a:spcPct val="109100"/>
              </a:lnSpc>
              <a:spcBef>
                <a:spcPts val="295"/>
              </a:spcBef>
              <a:buClr>
                <a:srgbClr val="0077CC"/>
              </a:buClr>
              <a:buFont typeface="Tahoma"/>
              <a:buAutoNum type="arabicPeriod"/>
              <a:tabLst>
                <a:tab pos="267335" algn="l"/>
              </a:tabLst>
            </a:pPr>
            <a:r>
              <a:rPr sz="700" spc="-80" dirty="0">
                <a:solidFill>
                  <a:srgbClr val="22373A"/>
                </a:solidFill>
                <a:latin typeface="Lucida Sans Unicode"/>
                <a:cs typeface="Lucida Sans Unicode"/>
              </a:rPr>
              <a:t>TODO</a:t>
            </a:r>
            <a:r>
              <a:rPr sz="7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Tracker:</a:t>
            </a:r>
            <a:r>
              <a:rPr sz="700" spc="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Scans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code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TODO 	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notes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turns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them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into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GitHub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issues 	automatically.</a:t>
            </a:r>
            <a:endParaRPr sz="700">
              <a:latin typeface="Tahoma"/>
              <a:cs typeface="Tahoma"/>
            </a:endParaRPr>
          </a:p>
          <a:p>
            <a:pPr marL="267335" marR="169545" indent="-125095">
              <a:lnSpc>
                <a:spcPct val="109100"/>
              </a:lnSpc>
              <a:spcBef>
                <a:spcPts val="300"/>
              </a:spcBef>
              <a:buClr>
                <a:srgbClr val="0077CC"/>
              </a:buClr>
              <a:buFont typeface="Tahoma"/>
              <a:buAutoNum type="arabicPeriod"/>
              <a:tabLst>
                <a:tab pos="267335" algn="l"/>
              </a:tabLst>
            </a:pP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Repo</a:t>
            </a:r>
            <a:r>
              <a:rPr sz="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Validator:</a:t>
            </a:r>
            <a:r>
              <a:rPr sz="700" spc="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Ensures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bug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reports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include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clear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steps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reliable reproduction.</a:t>
            </a:r>
            <a:endParaRPr sz="700">
              <a:latin typeface="Tahoma"/>
              <a:cs typeface="Tahom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543" y="72806"/>
            <a:ext cx="11957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Triaging</a:t>
            </a:r>
            <a:r>
              <a:rPr spc="-45" dirty="0"/>
              <a:t> </a:t>
            </a:r>
            <a:r>
              <a:rPr spc="-50" dirty="0"/>
              <a:t>Agent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045" y="820439"/>
            <a:ext cx="1213485" cy="255904"/>
            <a:chOff x="704045" y="820439"/>
            <a:chExt cx="1213485" cy="255904"/>
          </a:xfrm>
        </p:grpSpPr>
        <p:sp>
          <p:nvSpPr>
            <p:cNvPr id="5" name="object 5"/>
            <p:cNvSpPr/>
            <p:nvPr/>
          </p:nvSpPr>
          <p:spPr>
            <a:xfrm>
              <a:off x="705950" y="822344"/>
              <a:ext cx="1209675" cy="252095"/>
            </a:xfrm>
            <a:custGeom>
              <a:avLst/>
              <a:gdLst/>
              <a:ahLst/>
              <a:cxnLst/>
              <a:rect l="l" t="t" r="r" b="b"/>
              <a:pathLst>
                <a:path w="1209675" h="252094">
                  <a:moveTo>
                    <a:pt x="1156474" y="0"/>
                  </a:moveTo>
                  <a:lnTo>
                    <a:pt x="53141" y="0"/>
                  </a:lnTo>
                  <a:lnTo>
                    <a:pt x="32456" y="4176"/>
                  </a:lnTo>
                  <a:lnTo>
                    <a:pt x="15564" y="15564"/>
                  </a:lnTo>
                  <a:lnTo>
                    <a:pt x="4176" y="32456"/>
                  </a:lnTo>
                  <a:lnTo>
                    <a:pt x="0" y="53141"/>
                  </a:lnTo>
                  <a:lnTo>
                    <a:pt x="0" y="198861"/>
                  </a:lnTo>
                  <a:lnTo>
                    <a:pt x="4176" y="219546"/>
                  </a:lnTo>
                  <a:lnTo>
                    <a:pt x="15564" y="236438"/>
                  </a:lnTo>
                  <a:lnTo>
                    <a:pt x="32456" y="247826"/>
                  </a:lnTo>
                  <a:lnTo>
                    <a:pt x="53141" y="252002"/>
                  </a:lnTo>
                  <a:lnTo>
                    <a:pt x="1156474" y="252002"/>
                  </a:lnTo>
                  <a:lnTo>
                    <a:pt x="1177160" y="247826"/>
                  </a:lnTo>
                  <a:lnTo>
                    <a:pt x="1194051" y="236438"/>
                  </a:lnTo>
                  <a:lnTo>
                    <a:pt x="1205440" y="219546"/>
                  </a:lnTo>
                  <a:lnTo>
                    <a:pt x="1209616" y="198861"/>
                  </a:lnTo>
                  <a:lnTo>
                    <a:pt x="1209616" y="53141"/>
                  </a:lnTo>
                  <a:lnTo>
                    <a:pt x="1205440" y="32456"/>
                  </a:lnTo>
                  <a:lnTo>
                    <a:pt x="1194051" y="15564"/>
                  </a:lnTo>
                  <a:lnTo>
                    <a:pt x="1177160" y="4176"/>
                  </a:lnTo>
                  <a:lnTo>
                    <a:pt x="1156474" y="0"/>
                  </a:lnTo>
                  <a:close/>
                </a:path>
              </a:pathLst>
            </a:custGeom>
            <a:solidFill>
              <a:srgbClr val="4D9C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950" y="822344"/>
              <a:ext cx="1209675" cy="252095"/>
            </a:xfrm>
            <a:custGeom>
              <a:avLst/>
              <a:gdLst/>
              <a:ahLst/>
              <a:cxnLst/>
              <a:rect l="l" t="t" r="r" b="b"/>
              <a:pathLst>
                <a:path w="1209675" h="252094">
                  <a:moveTo>
                    <a:pt x="1156474" y="0"/>
                  </a:moveTo>
                  <a:lnTo>
                    <a:pt x="53141" y="0"/>
                  </a:lnTo>
                  <a:lnTo>
                    <a:pt x="32456" y="4176"/>
                  </a:lnTo>
                  <a:lnTo>
                    <a:pt x="15564" y="15564"/>
                  </a:lnTo>
                  <a:lnTo>
                    <a:pt x="4176" y="32456"/>
                  </a:lnTo>
                  <a:lnTo>
                    <a:pt x="0" y="53141"/>
                  </a:lnTo>
                  <a:lnTo>
                    <a:pt x="0" y="198861"/>
                  </a:lnTo>
                  <a:lnTo>
                    <a:pt x="4176" y="219546"/>
                  </a:lnTo>
                  <a:lnTo>
                    <a:pt x="15564" y="236438"/>
                  </a:lnTo>
                  <a:lnTo>
                    <a:pt x="32456" y="247826"/>
                  </a:lnTo>
                  <a:lnTo>
                    <a:pt x="53141" y="252002"/>
                  </a:lnTo>
                  <a:lnTo>
                    <a:pt x="1156474" y="252002"/>
                  </a:lnTo>
                  <a:lnTo>
                    <a:pt x="1177160" y="247826"/>
                  </a:lnTo>
                  <a:lnTo>
                    <a:pt x="1194051" y="236438"/>
                  </a:lnTo>
                  <a:lnTo>
                    <a:pt x="1205440" y="219546"/>
                  </a:lnTo>
                  <a:lnTo>
                    <a:pt x="1209616" y="198861"/>
                  </a:lnTo>
                  <a:lnTo>
                    <a:pt x="1209616" y="53141"/>
                  </a:lnTo>
                  <a:lnTo>
                    <a:pt x="1205440" y="32456"/>
                  </a:lnTo>
                  <a:lnTo>
                    <a:pt x="1194051" y="15564"/>
                  </a:lnTo>
                  <a:lnTo>
                    <a:pt x="1177160" y="4176"/>
                  </a:lnTo>
                  <a:lnTo>
                    <a:pt x="1156474" y="0"/>
                  </a:lnTo>
                  <a:close/>
                </a:path>
              </a:pathLst>
            </a:custGeom>
            <a:ln w="3542">
              <a:solidFill>
                <a:srgbClr val="246F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13667" y="872183"/>
            <a:ext cx="5943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Triaging</a:t>
            </a:r>
            <a:r>
              <a:rPr sz="7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Agent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1845" y="1252387"/>
            <a:ext cx="1137920" cy="231140"/>
            <a:chOff x="741845" y="1252387"/>
            <a:chExt cx="1137920" cy="231140"/>
          </a:xfrm>
        </p:grpSpPr>
        <p:sp>
          <p:nvSpPr>
            <p:cNvPr id="9" name="object 9"/>
            <p:cNvSpPr/>
            <p:nvPr/>
          </p:nvSpPr>
          <p:spPr>
            <a:xfrm>
              <a:off x="743750" y="1254292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A3D6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750" y="1254292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5195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32416" y="1297118"/>
            <a:ext cx="55689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Smart</a:t>
            </a:r>
            <a:r>
              <a:rPr sz="6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Labeling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1845" y="1621332"/>
            <a:ext cx="1137920" cy="246379"/>
            <a:chOff x="741845" y="1621332"/>
            <a:chExt cx="1137920" cy="246379"/>
          </a:xfrm>
        </p:grpSpPr>
        <p:sp>
          <p:nvSpPr>
            <p:cNvPr id="13" name="object 13"/>
            <p:cNvSpPr/>
            <p:nvPr/>
          </p:nvSpPr>
          <p:spPr>
            <a:xfrm>
              <a:off x="743750" y="1623237"/>
              <a:ext cx="1134110" cy="242570"/>
            </a:xfrm>
            <a:custGeom>
              <a:avLst/>
              <a:gdLst/>
              <a:ahLst/>
              <a:cxnLst/>
              <a:rect l="l" t="t" r="r" b="b"/>
              <a:pathLst>
                <a:path w="1134110" h="242569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97737"/>
                  </a:lnTo>
                  <a:lnTo>
                    <a:pt x="3480" y="214975"/>
                  </a:lnTo>
                  <a:lnTo>
                    <a:pt x="12970" y="229051"/>
                  </a:lnTo>
                  <a:lnTo>
                    <a:pt x="27046" y="238542"/>
                  </a:lnTo>
                  <a:lnTo>
                    <a:pt x="44284" y="242022"/>
                  </a:lnTo>
                  <a:lnTo>
                    <a:pt x="1089729" y="242022"/>
                  </a:lnTo>
                  <a:lnTo>
                    <a:pt x="1106967" y="238542"/>
                  </a:lnTo>
                  <a:lnTo>
                    <a:pt x="1121043" y="229051"/>
                  </a:lnTo>
                  <a:lnTo>
                    <a:pt x="1130534" y="214975"/>
                  </a:lnTo>
                  <a:lnTo>
                    <a:pt x="1134014" y="197737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94D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750" y="1623237"/>
              <a:ext cx="1134110" cy="242570"/>
            </a:xfrm>
            <a:custGeom>
              <a:avLst/>
              <a:gdLst/>
              <a:ahLst/>
              <a:cxnLst/>
              <a:rect l="l" t="t" r="r" b="b"/>
              <a:pathLst>
                <a:path w="1134110" h="242569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97737"/>
                  </a:lnTo>
                  <a:lnTo>
                    <a:pt x="3480" y="214975"/>
                  </a:lnTo>
                  <a:lnTo>
                    <a:pt x="12970" y="229051"/>
                  </a:lnTo>
                  <a:lnTo>
                    <a:pt x="27046" y="238542"/>
                  </a:lnTo>
                  <a:lnTo>
                    <a:pt x="44284" y="242022"/>
                  </a:lnTo>
                  <a:lnTo>
                    <a:pt x="1089729" y="242022"/>
                  </a:lnTo>
                  <a:lnTo>
                    <a:pt x="1106967" y="238542"/>
                  </a:lnTo>
                  <a:lnTo>
                    <a:pt x="1121043" y="229051"/>
                  </a:lnTo>
                  <a:lnTo>
                    <a:pt x="1130534" y="214975"/>
                  </a:lnTo>
                  <a:lnTo>
                    <a:pt x="1134014" y="197737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3D91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27917" y="1603980"/>
            <a:ext cx="56578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marR="5080" indent="-137795">
              <a:lnSpc>
                <a:spcPct val="122500"/>
              </a:lnSpc>
              <a:spcBef>
                <a:spcPts val="9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Priority</a:t>
            </a:r>
            <a:r>
              <a:rPr sz="600" spc="1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Scoring</a:t>
            </a:r>
            <a:r>
              <a:rPr sz="600" spc="5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(P0–P3)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1845" y="2005499"/>
            <a:ext cx="1137920" cy="231140"/>
            <a:chOff x="741845" y="2005499"/>
            <a:chExt cx="1137920" cy="231140"/>
          </a:xfrm>
        </p:grpSpPr>
        <p:sp>
          <p:nvSpPr>
            <p:cNvPr id="17" name="object 17"/>
            <p:cNvSpPr/>
            <p:nvPr/>
          </p:nvSpPr>
          <p:spPr>
            <a:xfrm>
              <a:off x="743750" y="2007404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CEE5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750" y="2007404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8BAA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43377" y="2050234"/>
            <a:ext cx="53530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Review</a:t>
            </a:r>
            <a:r>
              <a:rPr sz="6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Trigger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1845" y="2374445"/>
            <a:ext cx="1137920" cy="231140"/>
            <a:chOff x="741845" y="2374445"/>
            <a:chExt cx="1137920" cy="231140"/>
          </a:xfrm>
        </p:grpSpPr>
        <p:sp>
          <p:nvSpPr>
            <p:cNvPr id="21" name="object 21"/>
            <p:cNvSpPr/>
            <p:nvPr/>
          </p:nvSpPr>
          <p:spPr>
            <a:xfrm>
              <a:off x="743750" y="2376350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C9E6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3750" y="2376350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84AB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18428" y="2426913"/>
            <a:ext cx="78486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Metadata</a:t>
            </a:r>
            <a:r>
              <a:rPr sz="600" spc="1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Enrichment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6823" y="1076118"/>
            <a:ext cx="48260" cy="1292225"/>
            <a:chOff x="1286823" y="1076118"/>
            <a:chExt cx="48260" cy="1292225"/>
          </a:xfrm>
        </p:grpSpPr>
        <p:sp>
          <p:nvSpPr>
            <p:cNvPr id="25" name="object 25"/>
            <p:cNvSpPr/>
            <p:nvPr/>
          </p:nvSpPr>
          <p:spPr>
            <a:xfrm>
              <a:off x="1310758" y="1076118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h="128905">
                  <a:moveTo>
                    <a:pt x="0" y="0"/>
                  </a:moveTo>
                  <a:lnTo>
                    <a:pt x="0" y="128288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0365" y="1188360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0365" y="1188360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10758" y="1482864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0365" y="1557306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0365" y="1557306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10758" y="1867031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90365" y="1941473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90365" y="1941473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0758" y="2235977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90365" y="2310419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90365" y="2310419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366543" y="803542"/>
            <a:ext cx="1889125" cy="2018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16510" indent="-2540">
              <a:lnSpc>
                <a:spcPct val="113399"/>
              </a:lnSpc>
              <a:spcBef>
                <a:spcPts val="100"/>
              </a:spcBef>
            </a:pP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Triage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Agent</a:t>
            </a:r>
            <a:r>
              <a:rPr sz="8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quickly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classifies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issues,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sets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priority,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 and routes uncertain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cases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humans.</a:t>
            </a:r>
            <a:endParaRPr sz="8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25"/>
              </a:spcBef>
            </a:pPr>
            <a:r>
              <a:rPr sz="8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Key</a:t>
            </a:r>
            <a:r>
              <a:rPr sz="8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functions</a:t>
            </a:r>
            <a:endParaRPr sz="800">
              <a:latin typeface="Lucida Sans Unicode"/>
              <a:cs typeface="Lucida Sans Unicode"/>
            </a:endParaRPr>
          </a:p>
          <a:p>
            <a:pPr marL="267970" marR="24130" indent="-118745" algn="just">
              <a:lnSpc>
                <a:spcPct val="109100"/>
              </a:lnSpc>
              <a:spcBef>
                <a:spcPts val="580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Smart</a:t>
            </a:r>
            <a:r>
              <a:rPr sz="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Labeling:</a:t>
            </a:r>
            <a:r>
              <a:rPr sz="7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55" dirty="0">
                <a:solidFill>
                  <a:srgbClr val="22373A"/>
                </a:solidFill>
                <a:latin typeface="Tahoma"/>
                <a:cs typeface="Tahoma"/>
              </a:rPr>
              <a:t>AI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70" dirty="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rules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map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issues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3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components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labels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5" dirty="0">
                <a:solidFill>
                  <a:srgbClr val="22373A"/>
                </a:solidFill>
                <a:latin typeface="Tahoma"/>
                <a:cs typeface="Tahoma"/>
              </a:rPr>
              <a:t>instantly.</a:t>
            </a:r>
            <a:endParaRPr sz="700">
              <a:latin typeface="Tahoma"/>
              <a:cs typeface="Tahoma"/>
            </a:endParaRPr>
          </a:p>
          <a:p>
            <a:pPr marL="267970" marR="5080" indent="-124460" algn="just">
              <a:lnSpc>
                <a:spcPct val="109100"/>
              </a:lnSpc>
              <a:spcBef>
                <a:spcPts val="395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Priority</a:t>
            </a:r>
            <a:r>
              <a:rPr sz="7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Scoring:</a:t>
            </a:r>
            <a:r>
              <a:rPr sz="7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Assigns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P0–P3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based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on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 impact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urgency.</a:t>
            </a:r>
            <a:endParaRPr sz="700">
              <a:latin typeface="Tahoma"/>
              <a:cs typeface="Tahoma"/>
            </a:endParaRPr>
          </a:p>
          <a:p>
            <a:pPr marL="267970" marR="235585" indent="-125095" algn="just">
              <a:lnSpc>
                <a:spcPct val="109100"/>
              </a:lnSpc>
              <a:spcBef>
                <a:spcPts val="400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Review</a:t>
            </a:r>
            <a:r>
              <a:rPr sz="7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Trigger:</a:t>
            </a:r>
            <a:r>
              <a:rPr sz="700" spc="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Flags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low-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certainty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classifications</a:t>
            </a:r>
            <a:r>
              <a:rPr sz="7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routes</a:t>
            </a:r>
            <a:r>
              <a:rPr sz="7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them</a:t>
            </a:r>
            <a:r>
              <a:rPr sz="7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for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 human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review.</a:t>
            </a:r>
            <a:endParaRPr sz="700">
              <a:latin typeface="Tahoma"/>
              <a:cs typeface="Tahoma"/>
            </a:endParaRPr>
          </a:p>
          <a:p>
            <a:pPr marL="267970" marR="29209" indent="-127635">
              <a:lnSpc>
                <a:spcPct val="109100"/>
              </a:lnSpc>
              <a:spcBef>
                <a:spcPts val="400"/>
              </a:spcBef>
              <a:buFont typeface="Tahoma"/>
              <a:buAutoNum type="arabicPeriod"/>
              <a:tabLst>
                <a:tab pos="267970" algn="l"/>
                <a:tab pos="269240" algn="l"/>
              </a:tabLst>
            </a:pPr>
            <a:r>
              <a:rPr sz="700" dirty="0">
                <a:solidFill>
                  <a:srgbClr val="0077CC"/>
                </a:solidFill>
                <a:latin typeface="Lucida Sans Unicode"/>
                <a:cs typeface="Lucida Sans Unicode"/>
              </a:rPr>
              <a:t>	</a:t>
            </a: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Metadata</a:t>
            </a: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Enrichment:</a:t>
            </a:r>
            <a:r>
              <a:rPr sz="700" spc="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Adds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context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like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environment,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dependencies,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severity,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history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speed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up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fixes.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Assignment</a:t>
            </a:r>
            <a:r>
              <a:rPr spc="-50" dirty="0"/>
              <a:t> </a:t>
            </a:r>
            <a:r>
              <a:rPr spc="-55" dirty="0"/>
              <a:t>Agent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045" y="828674"/>
            <a:ext cx="1213485" cy="255904"/>
            <a:chOff x="704045" y="828674"/>
            <a:chExt cx="1213485" cy="255904"/>
          </a:xfrm>
        </p:grpSpPr>
        <p:sp>
          <p:nvSpPr>
            <p:cNvPr id="5" name="object 5"/>
            <p:cNvSpPr/>
            <p:nvPr/>
          </p:nvSpPr>
          <p:spPr>
            <a:xfrm>
              <a:off x="705950" y="830579"/>
              <a:ext cx="1209675" cy="252095"/>
            </a:xfrm>
            <a:custGeom>
              <a:avLst/>
              <a:gdLst/>
              <a:ahLst/>
              <a:cxnLst/>
              <a:rect l="l" t="t" r="r" b="b"/>
              <a:pathLst>
                <a:path w="1209675" h="252094">
                  <a:moveTo>
                    <a:pt x="1156474" y="0"/>
                  </a:moveTo>
                  <a:lnTo>
                    <a:pt x="53141" y="0"/>
                  </a:lnTo>
                  <a:lnTo>
                    <a:pt x="32456" y="4176"/>
                  </a:lnTo>
                  <a:lnTo>
                    <a:pt x="15564" y="15564"/>
                  </a:lnTo>
                  <a:lnTo>
                    <a:pt x="4176" y="32456"/>
                  </a:lnTo>
                  <a:lnTo>
                    <a:pt x="0" y="53141"/>
                  </a:lnTo>
                  <a:lnTo>
                    <a:pt x="0" y="198861"/>
                  </a:lnTo>
                  <a:lnTo>
                    <a:pt x="4176" y="219546"/>
                  </a:lnTo>
                  <a:lnTo>
                    <a:pt x="15564" y="236438"/>
                  </a:lnTo>
                  <a:lnTo>
                    <a:pt x="32456" y="247826"/>
                  </a:lnTo>
                  <a:lnTo>
                    <a:pt x="53141" y="252002"/>
                  </a:lnTo>
                  <a:lnTo>
                    <a:pt x="1156474" y="252002"/>
                  </a:lnTo>
                  <a:lnTo>
                    <a:pt x="1177160" y="247826"/>
                  </a:lnTo>
                  <a:lnTo>
                    <a:pt x="1194051" y="236438"/>
                  </a:lnTo>
                  <a:lnTo>
                    <a:pt x="1205440" y="219546"/>
                  </a:lnTo>
                  <a:lnTo>
                    <a:pt x="1209616" y="198861"/>
                  </a:lnTo>
                  <a:lnTo>
                    <a:pt x="1209616" y="53141"/>
                  </a:lnTo>
                  <a:lnTo>
                    <a:pt x="1205440" y="32456"/>
                  </a:lnTo>
                  <a:lnTo>
                    <a:pt x="1194051" y="15564"/>
                  </a:lnTo>
                  <a:lnTo>
                    <a:pt x="1177160" y="4176"/>
                  </a:lnTo>
                  <a:lnTo>
                    <a:pt x="1156474" y="0"/>
                  </a:lnTo>
                  <a:close/>
                </a:path>
              </a:pathLst>
            </a:custGeom>
            <a:solidFill>
              <a:srgbClr val="FF8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950" y="830579"/>
              <a:ext cx="1209675" cy="252095"/>
            </a:xfrm>
            <a:custGeom>
              <a:avLst/>
              <a:gdLst/>
              <a:ahLst/>
              <a:cxnLst/>
              <a:rect l="l" t="t" r="r" b="b"/>
              <a:pathLst>
                <a:path w="1209675" h="252094">
                  <a:moveTo>
                    <a:pt x="1156474" y="0"/>
                  </a:moveTo>
                  <a:lnTo>
                    <a:pt x="53141" y="0"/>
                  </a:lnTo>
                  <a:lnTo>
                    <a:pt x="32456" y="4176"/>
                  </a:lnTo>
                  <a:lnTo>
                    <a:pt x="15564" y="15564"/>
                  </a:lnTo>
                  <a:lnTo>
                    <a:pt x="4176" y="32456"/>
                  </a:lnTo>
                  <a:lnTo>
                    <a:pt x="0" y="53141"/>
                  </a:lnTo>
                  <a:lnTo>
                    <a:pt x="0" y="198861"/>
                  </a:lnTo>
                  <a:lnTo>
                    <a:pt x="4176" y="219546"/>
                  </a:lnTo>
                  <a:lnTo>
                    <a:pt x="15564" y="236438"/>
                  </a:lnTo>
                  <a:lnTo>
                    <a:pt x="32456" y="247826"/>
                  </a:lnTo>
                  <a:lnTo>
                    <a:pt x="53141" y="252002"/>
                  </a:lnTo>
                  <a:lnTo>
                    <a:pt x="1156474" y="252002"/>
                  </a:lnTo>
                  <a:lnTo>
                    <a:pt x="1177160" y="247826"/>
                  </a:lnTo>
                  <a:lnTo>
                    <a:pt x="1194051" y="236438"/>
                  </a:lnTo>
                  <a:lnTo>
                    <a:pt x="1205440" y="219546"/>
                  </a:lnTo>
                  <a:lnTo>
                    <a:pt x="1209616" y="198861"/>
                  </a:lnTo>
                  <a:lnTo>
                    <a:pt x="1209616" y="53141"/>
                  </a:lnTo>
                  <a:lnTo>
                    <a:pt x="1205440" y="32456"/>
                  </a:lnTo>
                  <a:lnTo>
                    <a:pt x="1194051" y="15564"/>
                  </a:lnTo>
                  <a:lnTo>
                    <a:pt x="1177160" y="4176"/>
                  </a:lnTo>
                  <a:lnTo>
                    <a:pt x="1156474" y="0"/>
                  </a:lnTo>
                  <a:close/>
                </a:path>
              </a:pathLst>
            </a:custGeom>
            <a:ln w="3542">
              <a:solidFill>
                <a:srgbClr val="CC5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1658" y="880418"/>
            <a:ext cx="7385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Assignment</a:t>
            </a:r>
            <a:r>
              <a:rPr sz="7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Agent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1845" y="1260621"/>
            <a:ext cx="1137920" cy="231140"/>
            <a:chOff x="741845" y="1260621"/>
            <a:chExt cx="1137920" cy="231140"/>
          </a:xfrm>
        </p:grpSpPr>
        <p:sp>
          <p:nvSpPr>
            <p:cNvPr id="9" name="object 9"/>
            <p:cNvSpPr/>
            <p:nvPr/>
          </p:nvSpPr>
          <p:spPr>
            <a:xfrm>
              <a:off x="743750" y="1262526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FFD3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750" y="1262526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CC92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05358" y="1313087"/>
            <a:ext cx="41148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Skill</a:t>
            </a:r>
            <a:r>
              <a:rPr sz="6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Match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1845" y="1629567"/>
            <a:ext cx="1137920" cy="231140"/>
            <a:chOff x="741845" y="1629567"/>
            <a:chExt cx="1137920" cy="231140"/>
          </a:xfrm>
        </p:grpSpPr>
        <p:sp>
          <p:nvSpPr>
            <p:cNvPr id="13" name="object 13"/>
            <p:cNvSpPr/>
            <p:nvPr/>
          </p:nvSpPr>
          <p:spPr>
            <a:xfrm>
              <a:off x="743750" y="1631472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FFB8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750" y="1631472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CC6E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79885" y="1681640"/>
            <a:ext cx="66230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Workload</a:t>
            </a:r>
            <a:r>
              <a:rPr sz="600" spc="10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Balance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1845" y="1998513"/>
            <a:ext cx="1137920" cy="231140"/>
            <a:chOff x="741845" y="1998513"/>
            <a:chExt cx="1137920" cy="231140"/>
          </a:xfrm>
        </p:grpSpPr>
        <p:sp>
          <p:nvSpPr>
            <p:cNvPr id="17" name="object 17"/>
            <p:cNvSpPr/>
            <p:nvPr/>
          </p:nvSpPr>
          <p:spPr>
            <a:xfrm>
              <a:off x="743750" y="2000418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FFEC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750" y="2000418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CCB3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89575" y="2043285"/>
            <a:ext cx="64262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10" dirty="0">
                <a:solidFill>
                  <a:srgbClr val="22373A"/>
                </a:solidFill>
                <a:latin typeface="Tahoma"/>
                <a:cs typeface="Tahoma"/>
              </a:rPr>
              <a:t>Availability</a:t>
            </a:r>
            <a:r>
              <a:rPr sz="6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Check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1845" y="2367458"/>
            <a:ext cx="1137920" cy="231140"/>
            <a:chOff x="741845" y="2367458"/>
            <a:chExt cx="1137920" cy="231140"/>
          </a:xfrm>
        </p:grpSpPr>
        <p:sp>
          <p:nvSpPr>
            <p:cNvPr id="21" name="object 21"/>
            <p:cNvSpPr/>
            <p:nvPr/>
          </p:nvSpPr>
          <p:spPr>
            <a:xfrm>
              <a:off x="743750" y="2369363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FFE0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3750" y="2369363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CCA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43217" y="2419928"/>
            <a:ext cx="53530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SLA</a:t>
            </a:r>
            <a:r>
              <a:rPr sz="6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Escalation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6823" y="1084353"/>
            <a:ext cx="48260" cy="1276985"/>
            <a:chOff x="1286823" y="1084353"/>
            <a:chExt cx="48260" cy="1276985"/>
          </a:xfrm>
        </p:grpSpPr>
        <p:sp>
          <p:nvSpPr>
            <p:cNvPr id="25" name="object 25"/>
            <p:cNvSpPr/>
            <p:nvPr/>
          </p:nvSpPr>
          <p:spPr>
            <a:xfrm>
              <a:off x="1310758" y="1084353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h="128905">
                  <a:moveTo>
                    <a:pt x="0" y="0"/>
                  </a:moveTo>
                  <a:lnTo>
                    <a:pt x="0" y="128288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0365" y="1196595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0365" y="1196595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10758" y="1491099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0365" y="1565541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0365" y="1565541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10758" y="1860045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90365" y="1934486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90365" y="1934486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0758" y="2228990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90365" y="2303432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90365" y="2303432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366543" y="627253"/>
            <a:ext cx="1874520" cy="238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233679" indent="-2540">
              <a:lnSpc>
                <a:spcPct val="113399"/>
              </a:lnSpc>
              <a:spcBef>
                <a:spcPts val="100"/>
              </a:spcBef>
            </a:pP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8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Assignment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Agent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maps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triaged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issues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8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the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best</a:t>
            </a:r>
            <a:r>
              <a:rPr sz="8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person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sz="8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team,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respecting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skill,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availability,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SLA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constraints.</a:t>
            </a:r>
            <a:endParaRPr sz="8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25"/>
              </a:spcBef>
            </a:pPr>
            <a:r>
              <a:rPr sz="8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Key</a:t>
            </a:r>
            <a:r>
              <a:rPr sz="8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functions</a:t>
            </a:r>
            <a:endParaRPr sz="800">
              <a:latin typeface="Lucida Sans Unicode"/>
              <a:cs typeface="Lucida Sans Unicode"/>
            </a:endParaRPr>
          </a:p>
          <a:p>
            <a:pPr marL="267970" marR="92075" indent="-118745">
              <a:lnSpc>
                <a:spcPct val="109100"/>
              </a:lnSpc>
              <a:spcBef>
                <a:spcPts val="580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Skill</a:t>
            </a: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Match:</a:t>
            </a:r>
            <a:r>
              <a:rPr sz="700" spc="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Maps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labels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 components</a:t>
            </a:r>
            <a:r>
              <a:rPr sz="7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7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contributors’</a:t>
            </a:r>
            <a:r>
              <a:rPr sz="7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expertise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so</a:t>
            </a:r>
            <a:r>
              <a:rPr sz="7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the right person gets the 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job.</a:t>
            </a:r>
            <a:endParaRPr sz="700">
              <a:latin typeface="Tahoma"/>
              <a:cs typeface="Tahoma"/>
            </a:endParaRPr>
          </a:p>
          <a:p>
            <a:pPr marL="264795" marR="5080" indent="-121285">
              <a:lnSpc>
                <a:spcPct val="109100"/>
              </a:lnSpc>
              <a:spcBef>
                <a:spcPts val="395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Workload</a:t>
            </a: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Balance:</a:t>
            </a:r>
            <a:r>
              <a:rPr sz="7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Distributes 	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assignments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to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avoid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overload</a:t>
            </a:r>
            <a:r>
              <a:rPr sz="7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keep 	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throughput</a:t>
            </a:r>
            <a:r>
              <a:rPr sz="7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steady.</a:t>
            </a:r>
            <a:endParaRPr sz="700">
              <a:latin typeface="Tahoma"/>
              <a:cs typeface="Tahoma"/>
            </a:endParaRPr>
          </a:p>
          <a:p>
            <a:pPr marL="266065" marR="49530" indent="-123189" algn="just">
              <a:lnSpc>
                <a:spcPct val="109100"/>
              </a:lnSpc>
              <a:spcBef>
                <a:spcPts val="400"/>
              </a:spcBef>
              <a:buClr>
                <a:srgbClr val="0077CC"/>
              </a:buClr>
              <a:buFont typeface="Tahoma"/>
              <a:buAutoNum type="arabicPeriod"/>
              <a:tabLst>
                <a:tab pos="267970" algn="l"/>
              </a:tabLst>
            </a:pP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Availability</a:t>
            </a:r>
            <a:r>
              <a:rPr sz="7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Check:</a:t>
            </a:r>
            <a:r>
              <a:rPr sz="7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Respects</a:t>
            </a:r>
            <a:r>
              <a:rPr sz="7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calendars, 	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on-call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status,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recent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activity</a:t>
            </a:r>
            <a:r>
              <a:rPr sz="7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20" dirty="0">
                <a:solidFill>
                  <a:srgbClr val="22373A"/>
                </a:solidFill>
                <a:latin typeface="Tahoma"/>
                <a:cs typeface="Tahoma"/>
              </a:rPr>
              <a:t>when 	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choosing</a:t>
            </a:r>
            <a:r>
              <a:rPr sz="7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assignees.</a:t>
            </a:r>
            <a:endParaRPr sz="700">
              <a:latin typeface="Tahoma"/>
              <a:cs typeface="Tahoma"/>
            </a:endParaRPr>
          </a:p>
          <a:p>
            <a:pPr marL="267970" marR="40005" indent="-127635">
              <a:lnSpc>
                <a:spcPct val="109100"/>
              </a:lnSpc>
              <a:spcBef>
                <a:spcPts val="400"/>
              </a:spcBef>
              <a:buFont typeface="Tahoma"/>
              <a:buAutoNum type="arabicPeriod"/>
              <a:tabLst>
                <a:tab pos="267970" algn="l"/>
                <a:tab pos="269240" algn="l"/>
              </a:tabLst>
            </a:pPr>
            <a:r>
              <a:rPr sz="700" dirty="0">
                <a:solidFill>
                  <a:srgbClr val="0077CC"/>
                </a:solidFill>
                <a:latin typeface="Lucida Sans Unicode"/>
                <a:cs typeface="Lucida Sans Unicode"/>
              </a:rPr>
              <a:t>	</a:t>
            </a:r>
            <a:r>
              <a:rPr sz="7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SLA</a:t>
            </a:r>
            <a:r>
              <a:rPr sz="700" spc="-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Escalation:</a:t>
            </a:r>
            <a:r>
              <a:rPr sz="7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Automatically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escalates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reassigns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when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timeouts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or</a:t>
            </a:r>
            <a:r>
              <a:rPr sz="700" spc="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priority SLAs</a:t>
            </a:r>
            <a:r>
              <a:rPr sz="7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dirty="0">
                <a:solidFill>
                  <a:srgbClr val="22373A"/>
                </a:solidFill>
                <a:latin typeface="Tahoma"/>
                <a:cs typeface="Tahoma"/>
              </a:rPr>
              <a:t>are</a:t>
            </a:r>
            <a:r>
              <a:rPr sz="7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Tahoma"/>
                <a:cs typeface="Tahoma"/>
              </a:rPr>
              <a:t>breached.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543" y="72806"/>
            <a:ext cx="1506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Notification</a:t>
            </a:r>
            <a:r>
              <a:rPr spc="-45" dirty="0"/>
              <a:t> </a:t>
            </a:r>
            <a:r>
              <a:rPr spc="-50" dirty="0"/>
              <a:t>Agent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045" y="828048"/>
            <a:ext cx="1213485" cy="255904"/>
            <a:chOff x="704045" y="828048"/>
            <a:chExt cx="1213485" cy="255904"/>
          </a:xfrm>
        </p:grpSpPr>
        <p:sp>
          <p:nvSpPr>
            <p:cNvPr id="5" name="object 5"/>
            <p:cNvSpPr/>
            <p:nvPr/>
          </p:nvSpPr>
          <p:spPr>
            <a:xfrm>
              <a:off x="705950" y="829953"/>
              <a:ext cx="1209675" cy="252095"/>
            </a:xfrm>
            <a:custGeom>
              <a:avLst/>
              <a:gdLst/>
              <a:ahLst/>
              <a:cxnLst/>
              <a:rect l="l" t="t" r="r" b="b"/>
              <a:pathLst>
                <a:path w="1209675" h="252094">
                  <a:moveTo>
                    <a:pt x="1156474" y="0"/>
                  </a:moveTo>
                  <a:lnTo>
                    <a:pt x="53141" y="0"/>
                  </a:lnTo>
                  <a:lnTo>
                    <a:pt x="32456" y="4176"/>
                  </a:lnTo>
                  <a:lnTo>
                    <a:pt x="15564" y="15564"/>
                  </a:lnTo>
                  <a:lnTo>
                    <a:pt x="4176" y="32456"/>
                  </a:lnTo>
                  <a:lnTo>
                    <a:pt x="0" y="53141"/>
                  </a:lnTo>
                  <a:lnTo>
                    <a:pt x="0" y="198861"/>
                  </a:lnTo>
                  <a:lnTo>
                    <a:pt x="4176" y="219546"/>
                  </a:lnTo>
                  <a:lnTo>
                    <a:pt x="15564" y="236438"/>
                  </a:lnTo>
                  <a:lnTo>
                    <a:pt x="32456" y="247826"/>
                  </a:lnTo>
                  <a:lnTo>
                    <a:pt x="53141" y="252002"/>
                  </a:lnTo>
                  <a:lnTo>
                    <a:pt x="1156474" y="252002"/>
                  </a:lnTo>
                  <a:lnTo>
                    <a:pt x="1177160" y="247826"/>
                  </a:lnTo>
                  <a:lnTo>
                    <a:pt x="1194051" y="236438"/>
                  </a:lnTo>
                  <a:lnTo>
                    <a:pt x="1205440" y="219546"/>
                  </a:lnTo>
                  <a:lnTo>
                    <a:pt x="1209616" y="198861"/>
                  </a:lnTo>
                  <a:lnTo>
                    <a:pt x="1209616" y="53141"/>
                  </a:lnTo>
                  <a:lnTo>
                    <a:pt x="1205440" y="32456"/>
                  </a:lnTo>
                  <a:lnTo>
                    <a:pt x="1194051" y="15564"/>
                  </a:lnTo>
                  <a:lnTo>
                    <a:pt x="1177160" y="4176"/>
                  </a:lnTo>
                  <a:lnTo>
                    <a:pt x="1156474" y="0"/>
                  </a:lnTo>
                  <a:close/>
                </a:path>
              </a:pathLst>
            </a:custGeom>
            <a:solidFill>
              <a:srgbClr val="8E7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950" y="829953"/>
              <a:ext cx="1209675" cy="252095"/>
            </a:xfrm>
            <a:custGeom>
              <a:avLst/>
              <a:gdLst/>
              <a:ahLst/>
              <a:cxnLst/>
              <a:rect l="l" t="t" r="r" b="b"/>
              <a:pathLst>
                <a:path w="1209675" h="252094">
                  <a:moveTo>
                    <a:pt x="1156474" y="0"/>
                  </a:moveTo>
                  <a:lnTo>
                    <a:pt x="53141" y="0"/>
                  </a:lnTo>
                  <a:lnTo>
                    <a:pt x="32456" y="4176"/>
                  </a:lnTo>
                  <a:lnTo>
                    <a:pt x="15564" y="15564"/>
                  </a:lnTo>
                  <a:lnTo>
                    <a:pt x="4176" y="32456"/>
                  </a:lnTo>
                  <a:lnTo>
                    <a:pt x="0" y="53141"/>
                  </a:lnTo>
                  <a:lnTo>
                    <a:pt x="0" y="198861"/>
                  </a:lnTo>
                  <a:lnTo>
                    <a:pt x="4176" y="219546"/>
                  </a:lnTo>
                  <a:lnTo>
                    <a:pt x="15564" y="236438"/>
                  </a:lnTo>
                  <a:lnTo>
                    <a:pt x="32456" y="247826"/>
                  </a:lnTo>
                  <a:lnTo>
                    <a:pt x="53141" y="252002"/>
                  </a:lnTo>
                  <a:lnTo>
                    <a:pt x="1156474" y="252002"/>
                  </a:lnTo>
                  <a:lnTo>
                    <a:pt x="1177160" y="247826"/>
                  </a:lnTo>
                  <a:lnTo>
                    <a:pt x="1194051" y="236438"/>
                  </a:lnTo>
                  <a:lnTo>
                    <a:pt x="1205440" y="219546"/>
                  </a:lnTo>
                  <a:lnTo>
                    <a:pt x="1209616" y="198861"/>
                  </a:lnTo>
                  <a:lnTo>
                    <a:pt x="1209616" y="53141"/>
                  </a:lnTo>
                  <a:lnTo>
                    <a:pt x="1205440" y="32456"/>
                  </a:lnTo>
                  <a:lnTo>
                    <a:pt x="1194051" y="15564"/>
                  </a:lnTo>
                  <a:lnTo>
                    <a:pt x="1177160" y="4176"/>
                  </a:lnTo>
                  <a:lnTo>
                    <a:pt x="1156474" y="0"/>
                  </a:lnTo>
                  <a:close/>
                </a:path>
              </a:pathLst>
            </a:custGeom>
            <a:ln w="3542">
              <a:solidFill>
                <a:srgbClr val="624D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8022" y="879792"/>
            <a:ext cx="7454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Notification</a:t>
            </a:r>
            <a:r>
              <a:rPr sz="7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Agent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1845" y="1259995"/>
            <a:ext cx="1137920" cy="231140"/>
            <a:chOff x="741845" y="1259995"/>
            <a:chExt cx="1137920" cy="231140"/>
          </a:xfrm>
        </p:grpSpPr>
        <p:sp>
          <p:nvSpPr>
            <p:cNvPr id="9" name="object 9"/>
            <p:cNvSpPr/>
            <p:nvPr/>
          </p:nvSpPr>
          <p:spPr>
            <a:xfrm>
              <a:off x="743750" y="1261900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BFAC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750" y="1261900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775D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82916" y="1304727"/>
            <a:ext cx="65595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Smart</a:t>
            </a:r>
            <a:r>
              <a:rPr sz="6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Channeling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1845" y="1628941"/>
            <a:ext cx="1137920" cy="231140"/>
            <a:chOff x="741845" y="1628941"/>
            <a:chExt cx="1137920" cy="231140"/>
          </a:xfrm>
        </p:grpSpPr>
        <p:sp>
          <p:nvSpPr>
            <p:cNvPr id="13" name="object 13"/>
            <p:cNvSpPr/>
            <p:nvPr/>
          </p:nvSpPr>
          <p:spPr>
            <a:xfrm>
              <a:off x="743750" y="1630846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D5A4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750" y="1630846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9453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57921" y="1681405"/>
            <a:ext cx="50609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Noise</a:t>
            </a:r>
            <a:r>
              <a:rPr sz="6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Control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1845" y="1997887"/>
            <a:ext cx="1137920" cy="231140"/>
            <a:chOff x="741845" y="1997887"/>
            <a:chExt cx="1137920" cy="231140"/>
          </a:xfrm>
        </p:grpSpPr>
        <p:sp>
          <p:nvSpPr>
            <p:cNvPr id="17" name="object 17"/>
            <p:cNvSpPr/>
            <p:nvPr/>
          </p:nvSpPr>
          <p:spPr>
            <a:xfrm>
              <a:off x="743750" y="1999792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E1B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750" y="1999792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A475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34057" y="2042623"/>
            <a:ext cx="753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10" dirty="0">
                <a:solidFill>
                  <a:srgbClr val="22373A"/>
                </a:solidFill>
                <a:latin typeface="Tahoma"/>
                <a:cs typeface="Tahoma"/>
              </a:rPr>
              <a:t>Personalized</a:t>
            </a:r>
            <a:r>
              <a:rPr sz="6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Digests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1845" y="2366832"/>
            <a:ext cx="1137920" cy="231140"/>
            <a:chOff x="741845" y="2366832"/>
            <a:chExt cx="1137920" cy="231140"/>
          </a:xfrm>
        </p:grpSpPr>
        <p:sp>
          <p:nvSpPr>
            <p:cNvPr id="21" name="object 21"/>
            <p:cNvSpPr/>
            <p:nvPr/>
          </p:nvSpPr>
          <p:spPr>
            <a:xfrm>
              <a:off x="743750" y="2368737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solidFill>
              <a:srgbClr val="E3D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3750" y="2368737"/>
              <a:ext cx="1134110" cy="227329"/>
            </a:xfrm>
            <a:custGeom>
              <a:avLst/>
              <a:gdLst/>
              <a:ahLst/>
              <a:cxnLst/>
              <a:rect l="l" t="t" r="r" b="b"/>
              <a:pathLst>
                <a:path w="1134110" h="227330">
                  <a:moveTo>
                    <a:pt x="1089729" y="0"/>
                  </a:moveTo>
                  <a:lnTo>
                    <a:pt x="44284" y="0"/>
                  </a:lnTo>
                  <a:lnTo>
                    <a:pt x="27046" y="3480"/>
                  </a:lnTo>
                  <a:lnTo>
                    <a:pt x="12970" y="12970"/>
                  </a:lnTo>
                  <a:lnTo>
                    <a:pt x="3480" y="27046"/>
                  </a:lnTo>
                  <a:lnTo>
                    <a:pt x="0" y="44284"/>
                  </a:lnTo>
                  <a:lnTo>
                    <a:pt x="0" y="182516"/>
                  </a:lnTo>
                  <a:lnTo>
                    <a:pt x="3480" y="199754"/>
                  </a:lnTo>
                  <a:lnTo>
                    <a:pt x="12970" y="213830"/>
                  </a:lnTo>
                  <a:lnTo>
                    <a:pt x="27046" y="223321"/>
                  </a:lnTo>
                  <a:lnTo>
                    <a:pt x="44284" y="226801"/>
                  </a:lnTo>
                  <a:lnTo>
                    <a:pt x="1089729" y="226801"/>
                  </a:lnTo>
                  <a:lnTo>
                    <a:pt x="1106967" y="223321"/>
                  </a:lnTo>
                  <a:lnTo>
                    <a:pt x="1121043" y="213830"/>
                  </a:lnTo>
                  <a:lnTo>
                    <a:pt x="1130534" y="199754"/>
                  </a:lnTo>
                  <a:lnTo>
                    <a:pt x="1134014" y="182516"/>
                  </a:lnTo>
                  <a:lnTo>
                    <a:pt x="1134014" y="44284"/>
                  </a:lnTo>
                  <a:lnTo>
                    <a:pt x="1130534" y="27046"/>
                  </a:lnTo>
                  <a:lnTo>
                    <a:pt x="1121043" y="12970"/>
                  </a:lnTo>
                  <a:lnTo>
                    <a:pt x="1106967" y="3480"/>
                  </a:lnTo>
                  <a:lnTo>
                    <a:pt x="1089729" y="0"/>
                  </a:lnTo>
                  <a:close/>
                </a:path>
              </a:pathLst>
            </a:custGeom>
            <a:ln w="3542">
              <a:solidFill>
                <a:srgbClr val="A79C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4873" y="2411167"/>
            <a:ext cx="632460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22373A"/>
                </a:solidFill>
                <a:latin typeface="Tahoma"/>
                <a:cs typeface="Tahoma"/>
              </a:rPr>
              <a:t>Agent</a:t>
            </a:r>
            <a:r>
              <a:rPr sz="6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Tahoma"/>
                <a:cs typeface="Tahoma"/>
              </a:rPr>
              <a:t>Dashboard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6823" y="1083727"/>
            <a:ext cx="48260" cy="1276985"/>
            <a:chOff x="1286823" y="1083727"/>
            <a:chExt cx="48260" cy="1276985"/>
          </a:xfrm>
        </p:grpSpPr>
        <p:sp>
          <p:nvSpPr>
            <p:cNvPr id="25" name="object 25"/>
            <p:cNvSpPr/>
            <p:nvPr/>
          </p:nvSpPr>
          <p:spPr>
            <a:xfrm>
              <a:off x="1310758" y="1083727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h="128905">
                  <a:moveTo>
                    <a:pt x="0" y="0"/>
                  </a:moveTo>
                  <a:lnTo>
                    <a:pt x="0" y="128288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0365" y="1195969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90365" y="1195969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10758" y="1490473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0365" y="1564915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90365" y="1564915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09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10758" y="1859419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90365" y="1933860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90365" y="1933860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0758" y="2228364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5">
                  <a:moveTo>
                    <a:pt x="0" y="0"/>
                  </a:moveTo>
                  <a:lnTo>
                    <a:pt x="0" y="90487"/>
                  </a:lnTo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90365" y="2302806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40784" y="0"/>
                  </a:move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90365" y="2302806"/>
              <a:ext cx="41275" cy="54610"/>
            </a:xfrm>
            <a:custGeom>
              <a:avLst/>
              <a:gdLst/>
              <a:ahLst/>
              <a:cxnLst/>
              <a:rect l="l" t="t" r="r" b="b"/>
              <a:pathLst>
                <a:path w="41275" h="54610">
                  <a:moveTo>
                    <a:pt x="20392" y="54070"/>
                  </a:moveTo>
                  <a:lnTo>
                    <a:pt x="40784" y="0"/>
                  </a:lnTo>
                  <a:lnTo>
                    <a:pt x="20392" y="17817"/>
                  </a:lnTo>
                  <a:lnTo>
                    <a:pt x="0" y="0"/>
                  </a:lnTo>
                  <a:lnTo>
                    <a:pt x="20392" y="54070"/>
                  </a:lnTo>
                  <a:close/>
                </a:path>
              </a:pathLst>
            </a:custGeom>
            <a:ln w="7085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690" indent="635">
              <a:lnSpc>
                <a:spcPct val="113399"/>
              </a:lnSpc>
              <a:spcBef>
                <a:spcPts val="100"/>
              </a:spcBef>
            </a:pPr>
            <a:r>
              <a:rPr spc="-20" dirty="0"/>
              <a:t>The</a:t>
            </a:r>
            <a:r>
              <a:rPr spc="5" dirty="0"/>
              <a:t> </a:t>
            </a:r>
            <a:r>
              <a:rPr dirty="0"/>
              <a:t>Notification</a:t>
            </a:r>
            <a:r>
              <a:rPr spc="5" dirty="0"/>
              <a:t> </a:t>
            </a:r>
            <a:r>
              <a:rPr spc="-10" dirty="0"/>
              <a:t>Agent</a:t>
            </a:r>
            <a:r>
              <a:rPr spc="10" dirty="0"/>
              <a:t> </a:t>
            </a:r>
            <a:r>
              <a:rPr dirty="0"/>
              <a:t>delivers</a:t>
            </a:r>
            <a:r>
              <a:rPr spc="5" dirty="0"/>
              <a:t> </a:t>
            </a:r>
            <a:r>
              <a:rPr spc="-10" dirty="0"/>
              <a:t>alerts </a:t>
            </a:r>
            <a:r>
              <a:rPr dirty="0"/>
              <a:t>with</a:t>
            </a:r>
            <a:r>
              <a:rPr spc="-15" dirty="0"/>
              <a:t> </a:t>
            </a:r>
            <a:r>
              <a:rPr dirty="0"/>
              <a:t>precision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gives</a:t>
            </a:r>
            <a:r>
              <a:rPr spc="-15" dirty="0"/>
              <a:t> </a:t>
            </a:r>
            <a:r>
              <a:rPr dirty="0"/>
              <a:t>teams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20" dirty="0"/>
              <a:t>live </a:t>
            </a:r>
            <a:r>
              <a:rPr dirty="0"/>
              <a:t>dashboard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track</a:t>
            </a:r>
            <a:r>
              <a:rPr spc="-25" dirty="0"/>
              <a:t>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got</a:t>
            </a:r>
            <a:r>
              <a:rPr spc="-2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spc="-10" dirty="0"/>
              <a:t>issue, </a:t>
            </a:r>
            <a:r>
              <a:rPr spc="-25" dirty="0"/>
              <a:t>when,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how</a:t>
            </a:r>
            <a:r>
              <a:rPr spc="-20" dirty="0"/>
              <a:t> </a:t>
            </a:r>
            <a:r>
              <a:rPr dirty="0"/>
              <a:t>it’s</a:t>
            </a:r>
            <a:r>
              <a:rPr spc="-20" dirty="0"/>
              <a:t> </a:t>
            </a:r>
            <a:r>
              <a:rPr spc="-10" dirty="0"/>
              <a:t>progressing.</a:t>
            </a:r>
          </a:p>
          <a:p>
            <a:pPr marL="15875">
              <a:lnSpc>
                <a:spcPct val="100000"/>
              </a:lnSpc>
              <a:spcBef>
                <a:spcPts val="525"/>
              </a:spcBef>
            </a:pPr>
            <a:r>
              <a:rPr spc="-40" dirty="0">
                <a:latin typeface="Lucida Sans Unicode"/>
                <a:cs typeface="Lucida Sans Unicode"/>
              </a:rPr>
              <a:t>Key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functions</a:t>
            </a:r>
          </a:p>
          <a:p>
            <a:pPr marL="269240" marR="5080" indent="-118745">
              <a:lnSpc>
                <a:spcPct val="109100"/>
              </a:lnSpc>
              <a:spcBef>
                <a:spcPts val="580"/>
              </a:spcBef>
              <a:buClr>
                <a:srgbClr val="0077CC"/>
              </a:buClr>
              <a:buFont typeface="Tahoma"/>
              <a:buAutoNum type="arabicPeriod"/>
              <a:tabLst>
                <a:tab pos="269240" algn="l"/>
              </a:tabLst>
            </a:pPr>
            <a:r>
              <a:rPr sz="700" spc="-25" dirty="0">
                <a:latin typeface="Lucida Sans Unicode"/>
                <a:cs typeface="Lucida Sans Unicode"/>
              </a:rPr>
              <a:t>Smart</a:t>
            </a:r>
            <a:r>
              <a:rPr sz="700" spc="-30" dirty="0">
                <a:latin typeface="Lucida Sans Unicode"/>
                <a:cs typeface="Lucida Sans Unicode"/>
              </a:rPr>
              <a:t> </a:t>
            </a:r>
            <a:r>
              <a:rPr sz="700" spc="-40" dirty="0">
                <a:latin typeface="Lucida Sans Unicode"/>
                <a:cs typeface="Lucida Sans Unicode"/>
              </a:rPr>
              <a:t>Channeling:</a:t>
            </a:r>
            <a:r>
              <a:rPr sz="700" spc="50" dirty="0">
                <a:latin typeface="Lucida Sans Unicode"/>
                <a:cs typeface="Lucida Sans Unicode"/>
              </a:rPr>
              <a:t> </a:t>
            </a:r>
            <a:r>
              <a:rPr sz="700" dirty="0"/>
              <a:t>Routes</a:t>
            </a:r>
            <a:r>
              <a:rPr sz="700" spc="-15" dirty="0"/>
              <a:t> </a:t>
            </a:r>
            <a:r>
              <a:rPr sz="700" spc="-10" dirty="0"/>
              <a:t>updates </a:t>
            </a:r>
            <a:r>
              <a:rPr sz="700" dirty="0"/>
              <a:t>through</a:t>
            </a:r>
            <a:r>
              <a:rPr sz="700" spc="-10" dirty="0"/>
              <a:t> Slack,</a:t>
            </a:r>
            <a:r>
              <a:rPr sz="700" spc="-5" dirty="0"/>
              <a:t> </a:t>
            </a:r>
            <a:r>
              <a:rPr sz="700" spc="-10" dirty="0"/>
              <a:t>Email, </a:t>
            </a:r>
            <a:r>
              <a:rPr sz="700" dirty="0"/>
              <a:t>or</a:t>
            </a:r>
            <a:r>
              <a:rPr sz="700" spc="-5" dirty="0"/>
              <a:t> </a:t>
            </a:r>
            <a:r>
              <a:rPr sz="700" dirty="0"/>
              <a:t>GitHub</a:t>
            </a:r>
            <a:r>
              <a:rPr sz="700" spc="-5" dirty="0"/>
              <a:t> </a:t>
            </a:r>
            <a:r>
              <a:rPr sz="700" dirty="0"/>
              <a:t>based</a:t>
            </a:r>
            <a:r>
              <a:rPr sz="700" spc="-10" dirty="0"/>
              <a:t> </a:t>
            </a:r>
            <a:r>
              <a:rPr sz="700" spc="-25" dirty="0"/>
              <a:t>on</a:t>
            </a:r>
            <a:r>
              <a:rPr sz="700" spc="-10" dirty="0"/>
              <a:t> context.</a:t>
            </a:r>
            <a:endParaRPr sz="700">
              <a:latin typeface="Lucida Sans Unicode"/>
              <a:cs typeface="Lucida Sans Unicode"/>
            </a:endParaRPr>
          </a:p>
          <a:p>
            <a:pPr marL="269240" marR="97155" indent="-124460">
              <a:lnSpc>
                <a:spcPct val="109100"/>
              </a:lnSpc>
              <a:spcBef>
                <a:spcPts val="395"/>
              </a:spcBef>
              <a:buClr>
                <a:srgbClr val="0077CC"/>
              </a:buClr>
              <a:buFont typeface="Tahoma"/>
              <a:buAutoNum type="arabicPeriod"/>
              <a:tabLst>
                <a:tab pos="269240" algn="l"/>
              </a:tabLst>
            </a:pPr>
            <a:r>
              <a:rPr sz="700" spc="-25" dirty="0">
                <a:latin typeface="Lucida Sans Unicode"/>
                <a:cs typeface="Lucida Sans Unicode"/>
              </a:rPr>
              <a:t>Noise</a:t>
            </a:r>
            <a:r>
              <a:rPr sz="700" spc="-30" dirty="0">
                <a:latin typeface="Lucida Sans Unicode"/>
                <a:cs typeface="Lucida Sans Unicode"/>
              </a:rPr>
              <a:t> Control:</a:t>
            </a:r>
            <a:r>
              <a:rPr sz="700" spc="50" dirty="0">
                <a:latin typeface="Lucida Sans Unicode"/>
                <a:cs typeface="Lucida Sans Unicode"/>
              </a:rPr>
              <a:t> </a:t>
            </a:r>
            <a:r>
              <a:rPr sz="700" dirty="0"/>
              <a:t>Batches</a:t>
            </a:r>
            <a:r>
              <a:rPr sz="700" spc="-10" dirty="0"/>
              <a:t> </a:t>
            </a:r>
            <a:r>
              <a:rPr sz="700" dirty="0"/>
              <a:t>and</a:t>
            </a:r>
            <a:r>
              <a:rPr sz="700" spc="-15" dirty="0"/>
              <a:t> </a:t>
            </a:r>
            <a:r>
              <a:rPr sz="700" dirty="0"/>
              <a:t>rate-</a:t>
            </a:r>
            <a:r>
              <a:rPr sz="700" spc="-10" dirty="0"/>
              <a:t>limits </a:t>
            </a:r>
            <a:r>
              <a:rPr sz="700" dirty="0"/>
              <a:t>alerts to prevent</a:t>
            </a:r>
            <a:r>
              <a:rPr sz="700" spc="5" dirty="0"/>
              <a:t> </a:t>
            </a:r>
            <a:r>
              <a:rPr sz="700" spc="-10" dirty="0"/>
              <a:t>fatigue.</a:t>
            </a:r>
            <a:endParaRPr sz="700">
              <a:latin typeface="Lucida Sans Unicode"/>
              <a:cs typeface="Lucida Sans Unicode"/>
            </a:endParaRPr>
          </a:p>
          <a:p>
            <a:pPr marL="269240" marR="100330" indent="-125095">
              <a:lnSpc>
                <a:spcPct val="109100"/>
              </a:lnSpc>
              <a:spcBef>
                <a:spcPts val="400"/>
              </a:spcBef>
              <a:buClr>
                <a:srgbClr val="0077CC"/>
              </a:buClr>
              <a:buFont typeface="Tahoma"/>
              <a:buAutoNum type="arabicPeriod"/>
              <a:tabLst>
                <a:tab pos="269240" algn="l"/>
              </a:tabLst>
            </a:pPr>
            <a:r>
              <a:rPr sz="700" spc="-35" dirty="0">
                <a:latin typeface="Lucida Sans Unicode"/>
                <a:cs typeface="Lucida Sans Unicode"/>
              </a:rPr>
              <a:t>Personalized</a:t>
            </a:r>
            <a:r>
              <a:rPr sz="700" spc="-10" dirty="0">
                <a:latin typeface="Lucida Sans Unicode"/>
                <a:cs typeface="Lucida Sans Unicode"/>
              </a:rPr>
              <a:t> </a:t>
            </a:r>
            <a:r>
              <a:rPr sz="700" spc="-40" dirty="0">
                <a:latin typeface="Lucida Sans Unicode"/>
                <a:cs typeface="Lucida Sans Unicode"/>
              </a:rPr>
              <a:t>Digests:</a:t>
            </a:r>
            <a:r>
              <a:rPr sz="700" spc="75" dirty="0">
                <a:latin typeface="Lucida Sans Unicode"/>
                <a:cs typeface="Lucida Sans Unicode"/>
              </a:rPr>
              <a:t> </a:t>
            </a:r>
            <a:r>
              <a:rPr sz="700" spc="-10" dirty="0"/>
              <a:t>Curates</a:t>
            </a:r>
            <a:r>
              <a:rPr sz="700" spc="10" dirty="0"/>
              <a:t> </a:t>
            </a:r>
            <a:r>
              <a:rPr sz="700" spc="-10" dirty="0"/>
              <a:t>updates </a:t>
            </a:r>
            <a:r>
              <a:rPr sz="700" dirty="0"/>
              <a:t>and escalates urgent</a:t>
            </a:r>
            <a:r>
              <a:rPr sz="700" spc="5" dirty="0"/>
              <a:t> </a:t>
            </a:r>
            <a:r>
              <a:rPr sz="700" dirty="0"/>
              <a:t>items </a:t>
            </a:r>
            <a:r>
              <a:rPr sz="700" spc="-10" dirty="0"/>
              <a:t>instantly.</a:t>
            </a:r>
            <a:endParaRPr sz="700">
              <a:latin typeface="Lucida Sans Unicode"/>
              <a:cs typeface="Lucida Sans Unicode"/>
            </a:endParaRPr>
          </a:p>
          <a:p>
            <a:pPr marL="267970" marR="228600" indent="-126364">
              <a:lnSpc>
                <a:spcPct val="109100"/>
              </a:lnSpc>
              <a:spcBef>
                <a:spcPts val="400"/>
              </a:spcBef>
              <a:buClr>
                <a:srgbClr val="0077CC"/>
              </a:buClr>
              <a:buFont typeface="Tahoma"/>
              <a:buAutoNum type="arabicPeriod"/>
              <a:tabLst>
                <a:tab pos="269240" algn="l"/>
              </a:tabLst>
            </a:pPr>
            <a:r>
              <a:rPr sz="700" spc="-50" dirty="0">
                <a:latin typeface="Lucida Sans Unicode"/>
                <a:cs typeface="Lucida Sans Unicode"/>
              </a:rPr>
              <a:t>Agent</a:t>
            </a:r>
            <a:r>
              <a:rPr sz="700" spc="-40" dirty="0">
                <a:latin typeface="Lucida Sans Unicode"/>
                <a:cs typeface="Lucida Sans Unicode"/>
              </a:rPr>
              <a:t> </a:t>
            </a:r>
            <a:r>
              <a:rPr sz="700" spc="-35" dirty="0">
                <a:latin typeface="Lucida Sans Unicode"/>
                <a:cs typeface="Lucida Sans Unicode"/>
              </a:rPr>
              <a:t>Dashboard:</a:t>
            </a:r>
            <a:r>
              <a:rPr sz="700" spc="25" dirty="0">
                <a:latin typeface="Lucida Sans Unicode"/>
                <a:cs typeface="Lucida Sans Unicode"/>
              </a:rPr>
              <a:t> </a:t>
            </a:r>
            <a:r>
              <a:rPr sz="700" dirty="0"/>
              <a:t>Shows</a:t>
            </a:r>
            <a:r>
              <a:rPr sz="700" spc="-30" dirty="0"/>
              <a:t> </a:t>
            </a:r>
            <a:r>
              <a:rPr sz="700" spc="-20" dirty="0"/>
              <a:t>issue 	</a:t>
            </a:r>
            <a:r>
              <a:rPr sz="700" dirty="0"/>
              <a:t>ownership,</a:t>
            </a:r>
            <a:r>
              <a:rPr sz="700" spc="5" dirty="0"/>
              <a:t> </a:t>
            </a:r>
            <a:r>
              <a:rPr sz="700" dirty="0"/>
              <a:t>notification</a:t>
            </a:r>
            <a:r>
              <a:rPr sz="700" spc="10" dirty="0"/>
              <a:t> </a:t>
            </a:r>
            <a:r>
              <a:rPr sz="700" spc="-10" dirty="0"/>
              <a:t>history,</a:t>
            </a:r>
            <a:r>
              <a:rPr sz="700" spc="10" dirty="0"/>
              <a:t> </a:t>
            </a:r>
            <a:r>
              <a:rPr sz="700" spc="-25" dirty="0"/>
              <a:t>and</a:t>
            </a:r>
            <a:r>
              <a:rPr sz="700" dirty="0"/>
              <a:t> 	response</a:t>
            </a:r>
            <a:r>
              <a:rPr sz="700" spc="15" dirty="0"/>
              <a:t> </a:t>
            </a:r>
            <a:r>
              <a:rPr sz="700" dirty="0"/>
              <a:t>times</a:t>
            </a:r>
            <a:r>
              <a:rPr sz="700" spc="20" dirty="0"/>
              <a:t> </a:t>
            </a:r>
            <a:r>
              <a:rPr sz="700" dirty="0"/>
              <a:t>in</a:t>
            </a:r>
            <a:r>
              <a:rPr sz="700" spc="20" dirty="0"/>
              <a:t> </a:t>
            </a:r>
            <a:r>
              <a:rPr sz="700" dirty="0"/>
              <a:t>real</a:t>
            </a:r>
            <a:r>
              <a:rPr sz="700" spc="20" dirty="0"/>
              <a:t> </a:t>
            </a:r>
            <a:r>
              <a:rPr sz="700" spc="-20" dirty="0"/>
              <a:t>time.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543" y="88389"/>
            <a:ext cx="788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Workflow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6413" y="701434"/>
            <a:ext cx="1555180" cy="21311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9816" y="2906644"/>
            <a:ext cx="9486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5" dirty="0">
                <a:solidFill>
                  <a:srgbClr val="0077CC"/>
                </a:solidFill>
                <a:latin typeface="Lucida Sans Unicode"/>
                <a:cs typeface="Lucida Sans Unicode"/>
              </a:rPr>
              <a:t>Figure</a:t>
            </a:r>
            <a:r>
              <a:rPr sz="900" spc="-40" dirty="0">
                <a:solidFill>
                  <a:srgbClr val="0077CC"/>
                </a:solidFill>
                <a:latin typeface="Lucida Sans Unicode"/>
                <a:cs typeface="Lucida Sans Unicode"/>
              </a:rPr>
              <a:t> </a:t>
            </a:r>
            <a:r>
              <a:rPr sz="900" spc="-140" dirty="0">
                <a:solidFill>
                  <a:srgbClr val="0077CC"/>
                </a:solidFill>
                <a:latin typeface="Lucida Sans Unicode"/>
                <a:cs typeface="Lucida Sans Unicode"/>
              </a:rPr>
              <a:t>1:</a:t>
            </a:r>
            <a:r>
              <a:rPr sz="900" spc="50" dirty="0">
                <a:solidFill>
                  <a:srgbClr val="0077CC"/>
                </a:solidFill>
                <a:latin typeface="Lucida Sans Unicode"/>
                <a:cs typeface="Lucida Sans Unicode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Workflow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Project</a:t>
            </a:r>
            <a:r>
              <a:rPr spc="-60" dirty="0"/>
              <a:t> </a:t>
            </a:r>
            <a:r>
              <a:rPr spc="-40" dirty="0"/>
              <a:t>Timeline</a:t>
            </a:r>
            <a:r>
              <a:rPr spc="-60" dirty="0"/>
              <a:t> </a:t>
            </a:r>
            <a:r>
              <a:rPr spc="-20" dirty="0"/>
              <a:t>and</a:t>
            </a:r>
            <a:r>
              <a:rPr spc="-60" dirty="0"/>
              <a:t> </a:t>
            </a:r>
            <a:r>
              <a:rPr spc="-50" dirty="0"/>
              <a:t>Assignments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3508" y="545465"/>
            <a:ext cx="3321050" cy="549275"/>
          </a:xfrm>
          <a:prstGeom prst="rect">
            <a:avLst/>
          </a:prstGeom>
          <a:ln w="5060">
            <a:solidFill>
              <a:srgbClr val="22373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Weeks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25" dirty="0">
                <a:solidFill>
                  <a:srgbClr val="22373A"/>
                </a:solidFill>
                <a:latin typeface="Lucida Sans Unicode"/>
                <a:cs typeface="Lucida Sans Unicode"/>
              </a:rPr>
              <a:t>1-</a:t>
            </a:r>
            <a:r>
              <a:rPr sz="10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2:</a:t>
            </a:r>
            <a:r>
              <a:rPr sz="1000" spc="6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Foundational </a:t>
            </a:r>
            <a:r>
              <a:rPr sz="10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Agent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Development</a:t>
            </a:r>
            <a:endParaRPr sz="10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8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Ashwin:</a:t>
            </a:r>
            <a:r>
              <a:rPr sz="8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Build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Intake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(Core).</a:t>
            </a:r>
            <a:r>
              <a:rPr sz="8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Vinay:</a:t>
            </a:r>
            <a:r>
              <a:rPr sz="8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Build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 Triage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and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Intake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(TODO).</a:t>
            </a:r>
            <a:r>
              <a:rPr sz="80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endParaRPr sz="8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  <a:spcBef>
                <a:spcPts val="130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Anmol:</a:t>
            </a:r>
            <a:r>
              <a:rPr sz="800" spc="3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Design</a:t>
            </a:r>
            <a:r>
              <a:rPr sz="8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Assignment.</a:t>
            </a:r>
            <a:r>
              <a:rPr sz="8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Sai</a:t>
            </a: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Harsh:</a:t>
            </a:r>
            <a:r>
              <a:rPr sz="800" spc="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Build</a:t>
            </a:r>
            <a:r>
              <a:rPr sz="8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Intake</a:t>
            </a:r>
            <a:r>
              <a:rPr sz="800" spc="-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(Repro</a:t>
            </a:r>
            <a:r>
              <a:rPr sz="8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Validation).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9672" y="1104308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Times New Roman"/>
                <a:cs typeface="Times New Roman"/>
              </a:rPr>
              <a:t>↓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508" y="1308925"/>
            <a:ext cx="3321050" cy="549275"/>
          </a:xfrm>
          <a:prstGeom prst="rect">
            <a:avLst/>
          </a:prstGeom>
          <a:ln w="5060">
            <a:solidFill>
              <a:srgbClr val="22373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Weeks </a:t>
            </a:r>
            <a:r>
              <a:rPr sz="1000" spc="-125" dirty="0">
                <a:solidFill>
                  <a:srgbClr val="22373A"/>
                </a:solidFill>
                <a:latin typeface="Lucida Sans Unicode"/>
                <a:cs typeface="Lucida Sans Unicode"/>
              </a:rPr>
              <a:t>3-</a:t>
            </a:r>
            <a:r>
              <a:rPr sz="10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4:</a:t>
            </a:r>
            <a:r>
              <a:rPr sz="1000" spc="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Full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Lucida Sans Unicode"/>
                <a:cs typeface="Lucida Sans Unicode"/>
              </a:rPr>
              <a:t>Agent</a:t>
            </a: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Suite</a:t>
            </a: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Development</a:t>
            </a:r>
            <a:endParaRPr sz="1000">
              <a:latin typeface="Lucida Sans Unicode"/>
              <a:cs typeface="Lucida Sans Unicode"/>
            </a:endParaRPr>
          </a:p>
          <a:p>
            <a:pPr marL="304165" marR="299720" algn="ctr">
              <a:lnSpc>
                <a:spcPct val="113399"/>
              </a:lnSpc>
              <a:spcBef>
                <a:spcPts val="525"/>
              </a:spcBef>
            </a:pPr>
            <a:r>
              <a:rPr sz="8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Ashwin:</a:t>
            </a:r>
            <a:r>
              <a:rPr sz="8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Refine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Intake.</a:t>
            </a:r>
            <a:r>
              <a:rPr sz="800" spc="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Vinay:</a:t>
            </a:r>
            <a:r>
              <a:rPr sz="8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Refine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Triage.</a:t>
            </a:r>
            <a:r>
              <a:rPr sz="8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Anmol:</a:t>
            </a:r>
            <a:r>
              <a:rPr sz="800" spc="1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Build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Assignment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Agent.</a:t>
            </a:r>
            <a:r>
              <a:rPr sz="8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Sai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Harsh:</a:t>
            </a:r>
            <a:r>
              <a:rPr sz="800" spc="5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Build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Notification</a:t>
            </a:r>
            <a:r>
              <a:rPr sz="8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Agent.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9672" y="1867768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Times New Roman"/>
                <a:cs typeface="Times New Roman"/>
              </a:rPr>
              <a:t>↓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508" y="2072386"/>
            <a:ext cx="3321050" cy="549275"/>
          </a:xfrm>
          <a:prstGeom prst="rect">
            <a:avLst/>
          </a:prstGeom>
          <a:ln w="5060">
            <a:solidFill>
              <a:srgbClr val="22373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Weeks</a:t>
            </a: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25" dirty="0">
                <a:solidFill>
                  <a:srgbClr val="22373A"/>
                </a:solidFill>
                <a:latin typeface="Lucida Sans Unicode"/>
                <a:cs typeface="Lucida Sans Unicode"/>
              </a:rPr>
              <a:t>5-</a:t>
            </a:r>
            <a:r>
              <a:rPr sz="10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6:</a:t>
            </a:r>
            <a:r>
              <a:rPr sz="1000" spc="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Full</a:t>
            </a:r>
            <a:r>
              <a:rPr sz="10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Pipeline</a:t>
            </a: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Integration</a:t>
            </a:r>
            <a:endParaRPr sz="1000">
              <a:latin typeface="Lucida Sans Unicode"/>
              <a:cs typeface="Lucida Sans Unicode"/>
            </a:endParaRPr>
          </a:p>
          <a:p>
            <a:pPr marL="99060" marR="93980" algn="ctr">
              <a:lnSpc>
                <a:spcPct val="113399"/>
              </a:lnSpc>
              <a:spcBef>
                <a:spcPts val="525"/>
              </a:spcBef>
            </a:pPr>
            <a:r>
              <a:rPr sz="8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Ashwin:</a:t>
            </a:r>
            <a:r>
              <a:rPr sz="8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Integrate</a:t>
            </a:r>
            <a:r>
              <a:rPr sz="80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Intake.</a:t>
            </a:r>
            <a:r>
              <a:rPr sz="8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Vinay:</a:t>
            </a:r>
            <a:r>
              <a:rPr sz="800" spc="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Integrate</a:t>
            </a:r>
            <a:r>
              <a:rPr sz="80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Triage.</a:t>
            </a:r>
            <a:r>
              <a:rPr sz="8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Anmol:</a:t>
            </a:r>
            <a:r>
              <a:rPr sz="8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Integrate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Assignment.</a:t>
            </a:r>
            <a:r>
              <a:rPr sz="8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Sai</a:t>
            </a: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Harsh:</a:t>
            </a:r>
            <a:r>
              <a:rPr sz="800" spc="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Integrate</a:t>
            </a:r>
            <a:r>
              <a:rPr sz="800" spc="-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Notifications.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9672" y="2631229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solidFill>
                  <a:srgbClr val="22373A"/>
                </a:solidFill>
                <a:latin typeface="Times New Roman"/>
                <a:cs typeface="Times New Roman"/>
              </a:rPr>
              <a:t>↓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3508" y="2835833"/>
            <a:ext cx="3321050" cy="549275"/>
          </a:xfrm>
          <a:prstGeom prst="rect">
            <a:avLst/>
          </a:prstGeom>
          <a:ln w="5060">
            <a:solidFill>
              <a:srgbClr val="22373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Weeks</a:t>
            </a:r>
            <a:r>
              <a:rPr sz="10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25" dirty="0">
                <a:solidFill>
                  <a:srgbClr val="22373A"/>
                </a:solidFill>
                <a:latin typeface="Lucida Sans Unicode"/>
                <a:cs typeface="Lucida Sans Unicode"/>
              </a:rPr>
              <a:t>7-</a:t>
            </a:r>
            <a:r>
              <a:rPr sz="1000" spc="-75" dirty="0">
                <a:solidFill>
                  <a:srgbClr val="22373A"/>
                </a:solidFill>
                <a:latin typeface="Lucida Sans Unicode"/>
                <a:cs typeface="Lucida Sans Unicode"/>
              </a:rPr>
              <a:t>8:</a:t>
            </a:r>
            <a:r>
              <a:rPr sz="1000" spc="7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Verification</a:t>
            </a:r>
            <a:r>
              <a:rPr sz="1000" spc="-2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Lucida Sans Unicode"/>
                <a:cs typeface="Lucida Sans Unicode"/>
              </a:rPr>
              <a:t>and</a:t>
            </a:r>
            <a:r>
              <a:rPr sz="10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Documentation</a:t>
            </a:r>
            <a:endParaRPr sz="1000">
              <a:latin typeface="Lucida Sans Unicode"/>
              <a:cs typeface="Lucida Sans Unicode"/>
            </a:endParaRPr>
          </a:p>
          <a:p>
            <a:pPr marL="8890" algn="ctr">
              <a:lnSpc>
                <a:spcPct val="100000"/>
              </a:lnSpc>
              <a:spcBef>
                <a:spcPts val="655"/>
              </a:spcBef>
            </a:pPr>
            <a:r>
              <a:rPr sz="800" spc="-40" dirty="0">
                <a:solidFill>
                  <a:srgbClr val="22373A"/>
                </a:solidFill>
                <a:latin typeface="Lucida Sans Unicode"/>
                <a:cs typeface="Lucida Sans Unicode"/>
              </a:rPr>
              <a:t>Ashwin:</a:t>
            </a:r>
            <a:r>
              <a:rPr sz="8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Document</a:t>
            </a:r>
            <a:r>
              <a:rPr sz="800" spc="-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Intake.</a:t>
            </a:r>
            <a:r>
              <a:rPr sz="8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Vinay:</a:t>
            </a:r>
            <a:r>
              <a:rPr sz="8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Document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Tahoma"/>
                <a:cs typeface="Tahoma"/>
              </a:rPr>
              <a:t>Triage.</a:t>
            </a:r>
            <a:r>
              <a:rPr sz="800" spc="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Anmol:</a:t>
            </a:r>
            <a:endParaRPr sz="800">
              <a:latin typeface="Lucida Sans Unicode"/>
              <a:cs typeface="Lucida Sans Unicode"/>
            </a:endParaRPr>
          </a:p>
          <a:p>
            <a:pPr marL="14604" algn="ctr"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Document</a:t>
            </a:r>
            <a:r>
              <a:rPr sz="800" spc="-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Assignment.</a:t>
            </a:r>
            <a:r>
              <a:rPr sz="800" spc="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|</a:t>
            </a:r>
            <a:r>
              <a:rPr sz="800" spc="-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Sai</a:t>
            </a: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Lucida Sans Unicode"/>
                <a:cs typeface="Lucida Sans Unicode"/>
              </a:rPr>
              <a:t>Harsh:</a:t>
            </a:r>
            <a:r>
              <a:rPr sz="800" spc="1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22373A"/>
                </a:solidFill>
                <a:latin typeface="Tahoma"/>
                <a:cs typeface="Tahoma"/>
              </a:rPr>
              <a:t>Document</a:t>
            </a:r>
            <a:r>
              <a:rPr sz="800" spc="-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Tahoma"/>
                <a:cs typeface="Tahoma"/>
              </a:rPr>
              <a:t>Notifications.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0748" y="3214855"/>
            <a:ext cx="1111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endParaRPr sz="7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1065-5934-86C7-AB9B-97F69908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E2C304-E220-576C-5D3A-CF8F7A597026}"/>
              </a:ext>
            </a:extLst>
          </p:cNvPr>
          <p:cNvSpPr/>
          <p:nvPr/>
        </p:nvSpPr>
        <p:spPr>
          <a:xfrm>
            <a:off x="-10" y="44"/>
            <a:ext cx="4608195" cy="432434"/>
          </a:xfrm>
          <a:custGeom>
            <a:avLst/>
            <a:gdLst/>
            <a:ahLst/>
            <a:cxnLst/>
            <a:rect l="l" t="t" r="r" b="b"/>
            <a:pathLst>
              <a:path w="4608195" h="432434">
                <a:moveTo>
                  <a:pt x="0" y="0"/>
                </a:moveTo>
                <a:lnTo>
                  <a:pt x="0" y="432004"/>
                </a:lnTo>
                <a:lnTo>
                  <a:pt x="4608060" y="432004"/>
                </a:lnTo>
                <a:lnTo>
                  <a:pt x="4608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3497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A6EAC5-D03A-5423-51C8-9531E95871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4850" y="1613997"/>
            <a:ext cx="3387090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4000" spc="-20" dirty="0">
                <a:solidFill>
                  <a:schemeClr val="tx1"/>
                </a:solidFill>
              </a:rPr>
              <a:t>THANK YOU</a:t>
            </a:r>
            <a:endParaRPr sz="4000" spc="-50" dirty="0">
              <a:solidFill>
                <a:schemeClr val="tx1"/>
              </a:solidFill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7F73A3D-E529-69A6-80E6-FECCBF28571A}"/>
              </a:ext>
            </a:extLst>
          </p:cNvPr>
          <p:cNvSpPr txBox="1"/>
          <p:nvPr/>
        </p:nvSpPr>
        <p:spPr>
          <a:xfrm>
            <a:off x="4410748" y="3214855"/>
            <a:ext cx="1111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endParaRPr sz="7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05529799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856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Courier New</vt:lpstr>
      <vt:lpstr>Lucida Sans Unicode</vt:lpstr>
      <vt:lpstr>Tahoma</vt:lpstr>
      <vt:lpstr>Times New Roman</vt:lpstr>
      <vt:lpstr>Trebuchet MS</vt:lpstr>
      <vt:lpstr>Office Theme</vt:lpstr>
      <vt:lpstr>IssueOps</vt:lpstr>
      <vt:lpstr>Developer productivity is being drained by GitHub Issues.</vt:lpstr>
      <vt:lpstr>Market Research &amp; Strategic Opportunity</vt:lpstr>
      <vt:lpstr>Our Solution</vt:lpstr>
      <vt:lpstr>Intake Agent</vt:lpstr>
      <vt:lpstr>Triaging Agent</vt:lpstr>
      <vt:lpstr>Assignment Agent</vt:lpstr>
      <vt:lpstr>Notification Agent</vt:lpstr>
      <vt:lpstr>PowerPoint Presentation</vt:lpstr>
      <vt:lpstr>Project Timeline and Assignments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CloudScale Agents Auto-scaling Cloud Platform for Intelligent Agents</dc:title>
  <dc:creator>Ashwin  Chief Coordinator / Presenter</dc:creator>
  <cp:lastModifiedBy>Anmol Gill</cp:lastModifiedBy>
  <cp:revision>1</cp:revision>
  <dcterms:created xsi:type="dcterms:W3CDTF">2025-09-13T09:29:44Z</dcterms:created>
  <dcterms:modified xsi:type="dcterms:W3CDTF">2025-09-13T09:32:07Z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2025-09-13T00:00:00Z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(20250410)</vt:lpwstr>
  </property>
  <property fmtid="{D5CDD505-2E9C-101B-9397-08002B2CF9AE}" pid="5" name="LastSaved">
    <vt:filetime>2025-09-13T00:00:00Z</vt:filetime>
  </property>
</Properties>
</file>